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8.png"/><Relationship Id="rId9"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hyperlink" Target="https://github.com/minthein128/scamshield" TargetMode="External"/><Relationship Id="rId6" Type="http://schemas.openxmlformats.org/officeDocument/2006/relationships/hyperlink" Target="https://saferoute-aibc.web.app" TargetMode="External"/><Relationship Id="rId7" Type="http://schemas.openxmlformats.org/officeDocument/2006/relationships/hyperlink" Target="https://saferoute-api.akkhayar.com/download" TargetMode="External"/><Relationship Id="rId8" Type="http://schemas.openxmlformats.org/officeDocument/2006/relationships/hyperlink" Target="https://huggingface.co/datasets/Rickaym/saferoute-scam-screenshots" TargetMode="External"/><Relationship Id="rId9" Type="http://schemas.openxmlformats.org/officeDocument/2006/relationships/hyperlink" Target="mailto:support@akkhayar.com" TargetMode="External"/><Relationship Id="rId10"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73152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lang="en-GB" sz="1800" b="0">
                <a:latin typeface="Google Sans Flex"/>
                <a:ea typeface="Google Sans Flex"/>
                <a:cs typeface="Google Sans Flex"/>
                <a:sym typeface="Google Sans Flex"/>
              </a:rPr>
              <a:t>Kakwe (</a:t>
            </a:r>
            <a:r>
              <a:rPr lang="en-GB" sz="1800" b="0">
                <a:latin typeface="A10_YoeShin"/>
                <a:ea typeface="A10_YoeShin"/>
                <a:cs typeface="A10_YoeShin"/>
                <a:sym typeface="A10_YoeShin"/>
              </a:rPr>
              <a:t>ကာကွယ်</a:t>
            </a:r>
            <a:r>
              <a:rPr lang="en-GB" sz="1800" b="0">
                <a:latin typeface="Google Sans Flex"/>
                <a:ea typeface="Google Sans Flex"/>
                <a:cs typeface="Google Sans Flex"/>
                <a:sym typeface="Google Sans Flex"/>
              </a:rPr>
              <a:t>)</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lang="en-GB" sz="1800">
                <a:latin typeface="Google Sans Flex"/>
                <a:ea typeface="Google Sans Flex"/>
                <a:cs typeface="Google Sans Flex"/>
                <a:sym typeface="Google Sans Flex"/>
              </a:rPr>
              <a:t>Ricky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lang="en-GB" sz="1250">
                <a:latin typeface="Google Sans Flex"/>
                <a:ea typeface="Google Sans Flex"/>
                <a:cs typeface="Google Sans Flex"/>
                <a:sym typeface="Google Sans Flex"/>
              </a:rPr>
              <a:t>Recruitment ads on Facebook, Viber and Telegram lure young job seekers from Myanmar and the region into forced online scam work; OHCHR says at least 120,000 people in Myanmar may be held in it. They need to see the warning signs, in their own language, before they pay, send documents or travel.</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pic>
        <p:nvPicPr>
          <p:cNvPr id="57" name="Picture 56" descr="medallion.png"/>
          <p:cNvPicPr>
            <a:picLocks noChangeAspect="1"/>
          </p:cNvPicPr>
          <p:nvPr/>
        </p:nvPicPr>
        <p:blipFill>
          <a:blip r:embed="rId5"/>
          <a:stretch>
            <a:fillRect/>
          </a:stretch>
        </p:blipFill>
        <p:spPr>
          <a:xfrm>
            <a:off x="7818120" y="2880360"/>
            <a:ext cx="960120" cy="9601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38328" y="1188720"/>
            <a:ext cx="4572000" cy="3566160"/>
          </a:xfrm>
          <a:prstGeom prst="rect">
            <a:avLst/>
          </a:prstGeom>
          <a:noFill/>
        </p:spPr>
        <p:txBody>
          <a:bodyPr wrap="square" anchor="t" lIns="0" rIns="0" tIns="0" bIns="0"/>
          <a:lstStyle/>
          <a:p>
            <a:pPr algn="l">
              <a:lnSpc>
                <a:spcPct val="115000"/>
              </a:lnSpc>
            </a:pPr>
            <a:r>
              <a:rPr sz="1500" b="1">
                <a:solidFill>
                  <a:srgbClr val="1F1A17"/>
                </a:solidFill>
                <a:latin typeface="Google Sans Flex"/>
                <a:ea typeface="Google Sans Flex"/>
                <a:cs typeface="Google Sans Flex"/>
                <a:sym typeface="Google Sans Flex"/>
              </a:rPr>
              <a:t>Kakwe checks a job offer before you pay, send documents or travel.</a:t>
            </a:r>
          </a:p>
          <a:p>
            <a:pPr algn="l">
              <a:lnSpc>
                <a:spcPct val="115000"/>
              </a:lnSpc>
              <a:spcBef>
                <a:spcPts val="1000"/>
              </a:spcBef>
            </a:pPr>
            <a:r>
              <a:rPr sz="1250" b="0">
                <a:solidFill>
                  <a:srgbClr val="57504A"/>
                </a:solidFill>
                <a:latin typeface="Google Sans Flex"/>
                <a:ea typeface="Google Sans Flex"/>
                <a:cs typeface="Google Sans Flex"/>
                <a:sym typeface="Google Sans Flex"/>
              </a:rPr>
              <a:t>Kakwe (</a:t>
            </a:r>
            <a:r>
              <a:rPr sz="1250" b="0">
                <a:solidFill>
                  <a:srgbClr val="57504A"/>
                </a:solidFill>
                <a:latin typeface="A10_YoeShin"/>
                <a:ea typeface="A10_YoeShin"/>
                <a:cs typeface="A10_YoeShin"/>
                <a:sym typeface="A10_YoeShin"/>
              </a:rPr>
              <a:t>ကာကွယ်</a:t>
            </a:r>
            <a:r>
              <a:rPr sz="1250" b="0">
                <a:solidFill>
                  <a:srgbClr val="57504A"/>
                </a:solidFill>
                <a:latin typeface="Google Sans Flex"/>
                <a:ea typeface="Google Sans Flex"/>
                <a:cs typeface="Google Sans Flex"/>
                <a:sym typeface="Google Sans Flex"/>
              </a:rPr>
              <a:t>, Burmese for "protect") is an Android app and a web demo for migrant job seekers from Myanmar, Thailand, Indonesia and the Philippines.</a:t>
            </a:r>
          </a:p>
          <a:p>
            <a:pPr algn="l">
              <a:lnSpc>
                <a:spcPct val="115000"/>
              </a:lnSpc>
              <a:spcBef>
                <a:spcPts val="800"/>
              </a:spcBef>
            </a:pPr>
            <a:r>
              <a:rPr sz="1250" b="0">
                <a:solidFill>
                  <a:srgbClr val="57504A"/>
                </a:solidFill>
                <a:latin typeface="Google Sans Flex"/>
                <a:ea typeface="Google Sans Flex"/>
                <a:cs typeface="Google Sans Flex"/>
                <a:sym typeface="Google Sans Flex"/>
              </a:rPr>
              <a:t>Paste a job ad, chat, link or screenshot, or tap the floating doll over any Android app. Gemini reads the evidence, Google Search checks named companies, and fixed rules set the verdict: Low risk, Be careful or High risk.</a:t>
            </a:r>
          </a:p>
          <a:p>
            <a:pPr algn="l">
              <a:lnSpc>
                <a:spcPct val="115000"/>
              </a:lnSpc>
              <a:spcBef>
                <a:spcPts val="800"/>
              </a:spcBef>
            </a:pPr>
            <a:r>
              <a:rPr sz="1250" b="0">
                <a:solidFill>
                  <a:srgbClr val="57504A"/>
                </a:solidFill>
                <a:latin typeface="Google Sans Flex"/>
                <a:ea typeface="Google Sans Flex"/>
                <a:cs typeface="Google Sans Flex"/>
                <a:sym typeface="Google Sans Flex"/>
              </a:rPr>
              <a:t>The report quotes the user's own words, gives a verified hotline and speaks the warning in English, Burmese, Bahasa Indonesia, Tagalog or Thai.</a:t>
            </a:r>
          </a:p>
          <a:p>
            <a:pPr algn="l">
              <a:lnSpc>
                <a:spcPct val="115000"/>
              </a:lnSpc>
              <a:spcBef>
                <a:spcPts val="1200"/>
              </a:spcBef>
            </a:pPr>
            <a:r>
              <a:rPr sz="950" b="0">
                <a:solidFill>
                  <a:srgbClr val="6B635C"/>
                </a:solidFill>
                <a:latin typeface="Google Sans Flex"/>
                <a:ea typeface="Google Sans Flex"/>
                <a:cs typeface="Google Sans Flex"/>
                <a:sym typeface="Google Sans Flex"/>
              </a:rPr>
              <a:t>Formerly SafeRoute. The app build, package and links still use that name.</a:t>
            </a:r>
          </a:p>
        </p:txBody>
      </p:sp>
      <p:pic>
        <p:nvPicPr>
          <p:cNvPr id="73" name="Picture 72" descr="ph-danger-en.png"/>
          <p:cNvPicPr>
            <a:picLocks noChangeAspect="1"/>
          </p:cNvPicPr>
          <p:nvPr/>
        </p:nvPicPr>
        <p:blipFill>
          <a:blip r:embed="rId4"/>
          <a:stretch>
            <a:fillRect/>
          </a:stretch>
        </p:blipFill>
        <p:spPr>
          <a:xfrm>
            <a:off x="5257800" y="1143000"/>
            <a:ext cx="1785874" cy="3611880"/>
          </a:xfrm>
          <a:prstGeom prst="rect">
            <a:avLst/>
          </a:prstGeom>
        </p:spPr>
      </p:pic>
      <p:pic>
        <p:nvPicPr>
          <p:cNvPr id="74" name="Picture 73" descr="ph-danger-my.png"/>
          <p:cNvPicPr>
            <a:picLocks noChangeAspect="1"/>
          </p:cNvPicPr>
          <p:nvPr/>
        </p:nvPicPr>
        <p:blipFill>
          <a:blip r:embed="rId5"/>
          <a:stretch>
            <a:fillRect/>
          </a:stretch>
        </p:blipFill>
        <p:spPr>
          <a:xfrm>
            <a:off x="7086600" y="1143000"/>
            <a:ext cx="1785874" cy="36118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566928"/>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38328" y="1143000"/>
            <a:ext cx="2697480" cy="3520440"/>
          </a:xfrm>
          <a:prstGeom prst="roundRect">
            <a:avLst>
              <a:gd name="adj" fmla="val 2711"/>
            </a:avLst>
          </a:prstGeom>
          <a:solidFill>
            <a:srgbClr val="F7F3EE"/>
          </a:solidFill>
          <a:ln w="9525">
            <a:solidFill>
              <a:srgbClr val="E6DED3"/>
            </a:solidFill>
          </a:ln>
          <a:effectLst/>
        </p:spPr>
        <p:txBody>
          <a:bodyPr rtlCol="0" anchor="ctr"/>
          <a:lstStyle/>
          <a:p/>
        </p:txBody>
      </p:sp>
      <p:sp>
        <p:nvSpPr>
          <p:cNvPr id="81" name="TextBox 80"/>
          <p:cNvSpPr txBox="1"/>
          <p:nvPr/>
        </p:nvSpPr>
        <p:spPr>
          <a:xfrm>
            <a:off x="502920" y="1307592"/>
            <a:ext cx="2368296" cy="3200400"/>
          </a:xfrm>
          <a:prstGeom prst="rect">
            <a:avLst/>
          </a:prstGeom>
          <a:noFill/>
        </p:spPr>
        <p:txBody>
          <a:bodyPr wrap="square" anchor="t" lIns="0" rIns="0" tIns="0" bIns="0"/>
          <a:lstStyle/>
          <a:p>
            <a:pPr algn="l">
              <a:lnSpc>
                <a:spcPct val="115000"/>
              </a:lnSpc>
            </a:pPr>
            <a:r>
              <a:rPr sz="1400" b="1">
                <a:solidFill>
                  <a:srgbClr val="1F1A17"/>
                </a:solidFill>
                <a:latin typeface="Google Sans Flex"/>
                <a:ea typeface="Google Sans Flex"/>
                <a:cs typeface="Google Sans Flex"/>
                <a:sym typeface="Google Sans Flex"/>
              </a:rPr>
              <a:t>How different is it from any of the other existing ideas?</a:t>
            </a:r>
          </a:p>
          <a:p>
            <a:pPr algn="l">
              <a:lnSpc>
                <a:spcPct val="115000"/>
              </a:lnSpc>
              <a:spcBef>
                <a:spcPts val="1200"/>
              </a:spcBef>
            </a:pPr>
            <a:r>
              <a:rPr sz="1300" b="0">
                <a:solidFill>
                  <a:srgbClr val="57504A"/>
                </a:solidFill>
                <a:latin typeface="Google Sans Flex"/>
                <a:ea typeface="Google Sans Flex"/>
                <a:cs typeface="Google Sans Flex"/>
                <a:sym typeface="Google Sans Flex"/>
              </a:rPr>
              <a:t>It reads whole chat screenshots in Burmese and four other languages, not only links or numbers. Job Shield puts the job ad next to the recruiter's chat and shows each gap. Every warning quotes the words behind it.</a:t>
            </a:r>
          </a:p>
        </p:txBody>
      </p:sp>
      <p:sp>
        <p:nvSpPr>
          <p:cNvPr id="82" name="Rounded Rectangle 81"/>
          <p:cNvSpPr/>
          <p:nvPr/>
        </p:nvSpPr>
        <p:spPr>
          <a:xfrm>
            <a:off x="3200400" y="1143000"/>
            <a:ext cx="2697480" cy="3520440"/>
          </a:xfrm>
          <a:prstGeom prst="roundRect">
            <a:avLst>
              <a:gd name="adj" fmla="val 2711"/>
            </a:avLst>
          </a:prstGeom>
          <a:solidFill>
            <a:srgbClr val="F7F3EE"/>
          </a:solidFill>
          <a:ln w="9525">
            <a:solidFill>
              <a:srgbClr val="E6DED3"/>
            </a:solidFill>
          </a:ln>
          <a:effectLst/>
        </p:spPr>
        <p:txBody>
          <a:bodyPr rtlCol="0" anchor="ctr"/>
          <a:lstStyle/>
          <a:p/>
        </p:txBody>
      </p:sp>
      <p:sp>
        <p:nvSpPr>
          <p:cNvPr id="83" name="TextBox 82"/>
          <p:cNvSpPr txBox="1"/>
          <p:nvPr/>
        </p:nvSpPr>
        <p:spPr>
          <a:xfrm>
            <a:off x="3364992" y="1307592"/>
            <a:ext cx="2368296" cy="3200400"/>
          </a:xfrm>
          <a:prstGeom prst="rect">
            <a:avLst/>
          </a:prstGeom>
          <a:noFill/>
        </p:spPr>
        <p:txBody>
          <a:bodyPr wrap="square" anchor="t" lIns="0" rIns="0" tIns="0" bIns="0"/>
          <a:lstStyle/>
          <a:p>
            <a:pPr algn="l">
              <a:lnSpc>
                <a:spcPct val="115000"/>
              </a:lnSpc>
            </a:pPr>
            <a:r>
              <a:rPr sz="1400" b="1">
                <a:solidFill>
                  <a:srgbClr val="1F1A17"/>
                </a:solidFill>
                <a:latin typeface="Google Sans Flex"/>
                <a:ea typeface="Google Sans Flex"/>
                <a:cs typeface="Google Sans Flex"/>
                <a:sym typeface="Google Sans Flex"/>
              </a:rPr>
              <a:t>How will it be able to solve the problem?</a:t>
            </a:r>
          </a:p>
          <a:p>
            <a:pPr algn="l">
              <a:lnSpc>
                <a:spcPct val="115000"/>
              </a:lnSpc>
              <a:spcBef>
                <a:spcPts val="1200"/>
              </a:spcBef>
            </a:pPr>
            <a:r>
              <a:rPr sz="1300" b="0">
                <a:solidFill>
                  <a:srgbClr val="57504A"/>
                </a:solidFill>
                <a:latin typeface="Google Sans Flex"/>
                <a:ea typeface="Google Sans Flex"/>
                <a:cs typeface="Google Sans Flex"/>
                <a:sym typeface="Google Sans Flex"/>
              </a:rPr>
              <a:t>It works at the moment of risk: before paying, sending a passport or travelling. One tap on the floating doll checks any Android app. The report gives the next step, a verified hotline and a way to warn family.</a:t>
            </a:r>
          </a:p>
        </p:txBody>
      </p:sp>
      <p:sp>
        <p:nvSpPr>
          <p:cNvPr id="84" name="Rounded Rectangle 83"/>
          <p:cNvSpPr/>
          <p:nvPr/>
        </p:nvSpPr>
        <p:spPr>
          <a:xfrm>
            <a:off x="6062472" y="1143000"/>
            <a:ext cx="2697480" cy="3520440"/>
          </a:xfrm>
          <a:prstGeom prst="roundRect">
            <a:avLst>
              <a:gd name="adj" fmla="val 2711"/>
            </a:avLst>
          </a:prstGeom>
          <a:solidFill>
            <a:srgbClr val="F7F3EE"/>
          </a:solidFill>
          <a:ln w="9525">
            <a:solidFill>
              <a:srgbClr val="E6DED3"/>
            </a:solidFill>
          </a:ln>
          <a:effectLst/>
        </p:spPr>
        <p:txBody>
          <a:bodyPr rtlCol="0" anchor="ctr"/>
          <a:lstStyle/>
          <a:p/>
        </p:txBody>
      </p:sp>
      <p:sp>
        <p:nvSpPr>
          <p:cNvPr id="85" name="TextBox 84"/>
          <p:cNvSpPr txBox="1"/>
          <p:nvPr/>
        </p:nvSpPr>
        <p:spPr>
          <a:xfrm>
            <a:off x="6227064" y="1307592"/>
            <a:ext cx="2368296" cy="3200400"/>
          </a:xfrm>
          <a:prstGeom prst="rect">
            <a:avLst/>
          </a:prstGeom>
          <a:noFill/>
        </p:spPr>
        <p:txBody>
          <a:bodyPr wrap="square" anchor="t" lIns="0" rIns="0" tIns="0" bIns="0"/>
          <a:lstStyle/>
          <a:p>
            <a:pPr algn="l">
              <a:lnSpc>
                <a:spcPct val="115000"/>
              </a:lnSpc>
            </a:pPr>
            <a:r>
              <a:rPr sz="1400" b="1">
                <a:solidFill>
                  <a:srgbClr val="1F1A17"/>
                </a:solidFill>
                <a:latin typeface="Google Sans Flex"/>
                <a:ea typeface="Google Sans Flex"/>
                <a:cs typeface="Google Sans Flex"/>
                <a:sym typeface="Google Sans Flex"/>
              </a:rPr>
              <a:t>USP of the proposed solution</a:t>
            </a:r>
          </a:p>
          <a:p>
            <a:pPr algn="l">
              <a:lnSpc>
                <a:spcPct val="115000"/>
              </a:lnSpc>
              <a:spcBef>
                <a:spcPts val="1200"/>
              </a:spcBef>
            </a:pPr>
            <a:r>
              <a:rPr sz="1300" b="0">
                <a:solidFill>
                  <a:srgbClr val="57504A"/>
                </a:solidFill>
                <a:latin typeface="Google Sans Flex"/>
                <a:ea typeface="Google Sans Flex"/>
                <a:cs typeface="Google Sans Flex"/>
                <a:sym typeface="Google Sans Flex"/>
              </a:rPr>
              <a:t>Gemini finds evidence; deterministic rules decide. Wording stays in likelihood, never accusation. A Burmese voice companion answers from the finished report. The benchmark and its dataset are public.</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38328"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89" name="TextBox 88"/>
          <p:cNvSpPr txBox="1"/>
          <p:nvPr/>
        </p:nvSpPr>
        <p:spPr>
          <a:xfrm>
            <a:off x="466344"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Check anything</a:t>
            </a:r>
          </a:p>
          <a:p>
            <a:pPr algn="l">
              <a:lnSpc>
                <a:spcPct val="110000"/>
              </a:lnSpc>
              <a:spcBef>
                <a:spcPts val="400"/>
              </a:spcBef>
            </a:pPr>
            <a:r>
              <a:rPr sz="1150" b="0">
                <a:solidFill>
                  <a:srgbClr val="57504A"/>
                </a:solidFill>
                <a:latin typeface="Google Sans Flex"/>
                <a:ea typeface="Google Sans Flex"/>
                <a:cs typeface="Google Sans Flex"/>
                <a:sym typeface="Google Sans Flex"/>
              </a:rPr>
              <a:t>Paste a message or link, or share a screenshot. Get Low risk, Be careful or High risk, with the quoted words.</a:t>
            </a:r>
          </a:p>
        </p:txBody>
      </p:sp>
      <p:sp>
        <p:nvSpPr>
          <p:cNvPr id="90" name="Rounded Rectangle 89"/>
          <p:cNvSpPr/>
          <p:nvPr/>
        </p:nvSpPr>
        <p:spPr>
          <a:xfrm>
            <a:off x="2459736"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1" name="TextBox 90"/>
          <p:cNvSpPr txBox="1"/>
          <p:nvPr/>
        </p:nvSpPr>
        <p:spPr>
          <a:xfrm>
            <a:off x="2587752"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Job Shield</a:t>
            </a:r>
          </a:p>
          <a:p>
            <a:pPr algn="l">
              <a:lnSpc>
                <a:spcPct val="110000"/>
              </a:lnSpc>
              <a:spcBef>
                <a:spcPts val="400"/>
              </a:spcBef>
            </a:pPr>
            <a:r>
              <a:rPr sz="1150" b="0">
                <a:solidFill>
                  <a:srgbClr val="57504A"/>
                </a:solidFill>
                <a:latin typeface="Google Sans Flex"/>
                <a:ea typeface="Google Sans Flex"/>
                <a:cs typeface="Google Sans Flex"/>
                <a:sym typeface="Google Sans Flex"/>
              </a:rPr>
              <a:t>Compares the job ad with what the recruiter asks in chat and shows each gap.</a:t>
            </a:r>
          </a:p>
        </p:txBody>
      </p:sp>
      <p:sp>
        <p:nvSpPr>
          <p:cNvPr id="92" name="Rounded Rectangle 91"/>
          <p:cNvSpPr/>
          <p:nvPr/>
        </p:nvSpPr>
        <p:spPr>
          <a:xfrm>
            <a:off x="4581144"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3" name="TextBox 92"/>
          <p:cNvSpPr txBox="1"/>
          <p:nvPr/>
        </p:nvSpPr>
        <p:spPr>
          <a:xfrm>
            <a:off x="4709159"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Screen bubble</a:t>
            </a:r>
          </a:p>
          <a:p>
            <a:pPr algn="l">
              <a:lnSpc>
                <a:spcPct val="110000"/>
              </a:lnSpc>
              <a:spcBef>
                <a:spcPts val="400"/>
              </a:spcBef>
            </a:pPr>
            <a:r>
              <a:rPr sz="1150" b="0">
                <a:solidFill>
                  <a:srgbClr val="57504A"/>
                </a:solidFill>
                <a:latin typeface="Google Sans Flex"/>
                <a:ea typeface="Google Sans Flex"/>
                <a:cs typeface="Google Sans Flex"/>
                <a:sym typeface="Google Sans Flex"/>
              </a:rPr>
              <a:t>Android. A floating doll checks whatever is on screen, in any app, with one tap.</a:t>
            </a:r>
          </a:p>
        </p:txBody>
      </p:sp>
      <p:sp>
        <p:nvSpPr>
          <p:cNvPr id="94" name="Rounded Rectangle 93"/>
          <p:cNvSpPr/>
          <p:nvPr/>
        </p:nvSpPr>
        <p:spPr>
          <a:xfrm>
            <a:off x="6702551" y="1143000"/>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5" name="TextBox 94"/>
          <p:cNvSpPr txBox="1"/>
          <p:nvPr/>
        </p:nvSpPr>
        <p:spPr>
          <a:xfrm>
            <a:off x="6830567" y="1252728"/>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Message Guard</a:t>
            </a:r>
          </a:p>
          <a:p>
            <a:pPr algn="l">
              <a:lnSpc>
                <a:spcPct val="110000"/>
              </a:lnSpc>
              <a:spcBef>
                <a:spcPts val="400"/>
              </a:spcBef>
            </a:pPr>
            <a:r>
              <a:rPr sz="1150" b="0">
                <a:solidFill>
                  <a:srgbClr val="57504A"/>
                </a:solidFill>
                <a:latin typeface="Google Sans Flex"/>
                <a:ea typeface="Google Sans Flex"/>
                <a:cs typeface="Google Sans Flex"/>
                <a:sym typeface="Google Sans Flex"/>
              </a:rPr>
              <a:t>Android, opt-in. Watches the chat apps you choose and flags risky messages.</a:t>
            </a:r>
          </a:p>
        </p:txBody>
      </p:sp>
      <p:sp>
        <p:nvSpPr>
          <p:cNvPr id="96" name="Rounded Rectangle 95"/>
          <p:cNvSpPr/>
          <p:nvPr/>
        </p:nvSpPr>
        <p:spPr>
          <a:xfrm>
            <a:off x="338328"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7" name="TextBox 96"/>
          <p:cNvSpPr txBox="1"/>
          <p:nvPr/>
        </p:nvSpPr>
        <p:spPr>
          <a:xfrm>
            <a:off x="466344"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Voice companion</a:t>
            </a:r>
          </a:p>
          <a:p>
            <a:pPr algn="l">
              <a:lnSpc>
                <a:spcPct val="110000"/>
              </a:lnSpc>
              <a:spcBef>
                <a:spcPts val="400"/>
              </a:spcBef>
            </a:pPr>
            <a:r>
              <a:rPr sz="1150" b="0">
                <a:solidFill>
                  <a:srgbClr val="57504A"/>
                </a:solidFill>
                <a:latin typeface="Google Sans Flex"/>
                <a:ea typeface="Google Sans Flex"/>
                <a:cs typeface="Google Sans Flex"/>
                <a:sym typeface="Google Sans Flex"/>
              </a:rPr>
              <a:t>Talk to Pyit Taing Htaung about a report, in your language, on Gemini Live.</a:t>
            </a:r>
          </a:p>
        </p:txBody>
      </p:sp>
      <p:sp>
        <p:nvSpPr>
          <p:cNvPr id="98" name="Rounded Rectangle 97"/>
          <p:cNvSpPr/>
          <p:nvPr/>
        </p:nvSpPr>
        <p:spPr>
          <a:xfrm>
            <a:off x="2459736"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99" name="TextBox 98"/>
          <p:cNvSpPr txBox="1"/>
          <p:nvPr/>
        </p:nvSpPr>
        <p:spPr>
          <a:xfrm>
            <a:off x="2587752"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Warn my family</a:t>
            </a:r>
          </a:p>
          <a:p>
            <a:pPr algn="l">
              <a:lnSpc>
                <a:spcPct val="110000"/>
              </a:lnSpc>
              <a:spcBef>
                <a:spcPts val="400"/>
              </a:spcBef>
            </a:pPr>
            <a:r>
              <a:rPr sz="1150" b="0">
                <a:solidFill>
                  <a:srgbClr val="57504A"/>
                </a:solidFill>
                <a:latin typeface="Google Sans Flex"/>
                <a:ea typeface="Google Sans Flex"/>
                <a:cs typeface="Google Sans Flex"/>
                <a:sym typeface="Google Sans Flex"/>
              </a:rPr>
              <a:t>Sends the warning to a trusted contact by SMS or the share sheet.</a:t>
            </a:r>
          </a:p>
        </p:txBody>
      </p:sp>
      <p:sp>
        <p:nvSpPr>
          <p:cNvPr id="100" name="Rounded Rectangle 99"/>
          <p:cNvSpPr/>
          <p:nvPr/>
        </p:nvSpPr>
        <p:spPr>
          <a:xfrm>
            <a:off x="4581144"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101" name="TextBox 100"/>
          <p:cNvSpPr txBox="1"/>
          <p:nvPr/>
        </p:nvSpPr>
        <p:spPr>
          <a:xfrm>
            <a:off x="4709159"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Scam network</a:t>
            </a:r>
          </a:p>
          <a:p>
            <a:pPr algn="l">
              <a:lnSpc>
                <a:spcPct val="110000"/>
              </a:lnSpc>
              <a:spcBef>
                <a:spcPts val="400"/>
              </a:spcBef>
            </a:pPr>
            <a:r>
              <a:rPr sz="1150" b="0">
                <a:solidFill>
                  <a:srgbClr val="57504A"/>
                </a:solidFill>
                <a:latin typeface="Google Sans Flex"/>
                <a:ea typeface="Google Sans Flex"/>
                <a:cs typeface="Google Sans Flex"/>
                <a:sym typeface="Google Sans Flex"/>
              </a:rPr>
              <a:t>Opt-in. Repeat numbers and handles, kept as keyed hashes, raise the next warning.</a:t>
            </a:r>
          </a:p>
        </p:txBody>
      </p:sp>
      <p:sp>
        <p:nvSpPr>
          <p:cNvPr id="102" name="Rounded Rectangle 101"/>
          <p:cNvSpPr/>
          <p:nvPr/>
        </p:nvSpPr>
        <p:spPr>
          <a:xfrm>
            <a:off x="6702551" y="2980944"/>
            <a:ext cx="1984248" cy="1700784"/>
          </a:xfrm>
          <a:prstGeom prst="roundRect">
            <a:avLst>
              <a:gd name="adj" fmla="val 4301"/>
            </a:avLst>
          </a:prstGeom>
          <a:solidFill>
            <a:srgbClr val="F7F3EE"/>
          </a:solidFill>
          <a:ln w="9525">
            <a:solidFill>
              <a:srgbClr val="E6DED3"/>
            </a:solidFill>
          </a:ln>
          <a:effectLst/>
        </p:spPr>
        <p:txBody>
          <a:bodyPr rtlCol="0" anchor="ctr"/>
          <a:lstStyle/>
          <a:p/>
        </p:txBody>
      </p:sp>
      <p:sp>
        <p:nvSpPr>
          <p:cNvPr id="103" name="TextBox 102"/>
          <p:cNvSpPr txBox="1"/>
          <p:nvPr/>
        </p:nvSpPr>
        <p:spPr>
          <a:xfrm>
            <a:off x="6830567" y="3090672"/>
            <a:ext cx="1728216" cy="1517904"/>
          </a:xfrm>
          <a:prstGeom prst="rect">
            <a:avLst/>
          </a:prstGeom>
          <a:noFill/>
        </p:spPr>
        <p:txBody>
          <a:bodyPr wrap="square" anchor="t" lIns="0" rIns="0" tIns="0" bIns="0"/>
          <a:lstStyle/>
          <a:p>
            <a:pPr algn="l">
              <a:lnSpc>
                <a:spcPct val="110000"/>
              </a:lnSpc>
            </a:pPr>
            <a:r>
              <a:rPr sz="1400" b="1">
                <a:solidFill>
                  <a:srgbClr val="1F1A17"/>
                </a:solidFill>
                <a:latin typeface="Google Sans Flex"/>
                <a:ea typeface="Google Sans Flex"/>
                <a:cs typeface="Google Sans Flex"/>
                <a:sym typeface="Google Sans Flex"/>
              </a:rPr>
              <a:t>Five languages</a:t>
            </a:r>
          </a:p>
          <a:p>
            <a:pPr algn="l">
              <a:lnSpc>
                <a:spcPct val="110000"/>
              </a:lnSpc>
              <a:spcBef>
                <a:spcPts val="400"/>
              </a:spcBef>
            </a:pPr>
            <a:r>
              <a:rPr sz="1150" b="0">
                <a:solidFill>
                  <a:srgbClr val="57504A"/>
                </a:solidFill>
                <a:latin typeface="Google Sans Flex"/>
                <a:ea typeface="Google Sans Flex"/>
                <a:cs typeface="Google Sans Flex"/>
                <a:sym typeface="Google Sans Flex"/>
              </a:rPr>
              <a:t>English, Burmese, Bahasa Indonesia, Tagalog and Thai. Leave quickly clears the screen.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38328" y="1097280"/>
            <a:ext cx="8229600" cy="27432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Ma Su's journey (a fictional story)</a:t>
            </a:r>
          </a:p>
        </p:txBody>
      </p:sp>
      <p:sp>
        <p:nvSpPr>
          <p:cNvPr id="97" name="Rounded Rectangle 96"/>
          <p:cNvSpPr/>
          <p:nvPr/>
        </p:nvSpPr>
        <p:spPr>
          <a:xfrm>
            <a:off x="338328"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98" name="TextBox 97"/>
          <p:cNvSpPr txBox="1"/>
          <p:nvPr/>
        </p:nvSpPr>
        <p:spPr>
          <a:xfrm>
            <a:off x="411480"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A Viber message offers a factory job in Thailand</a:t>
            </a:r>
          </a:p>
        </p:txBody>
      </p:sp>
      <p:cxnSp>
        <p:nvCxnSpPr>
          <p:cNvPr id="99" name="Connector 98"/>
          <p:cNvCxnSpPr/>
          <p:nvPr/>
        </p:nvCxnSpPr>
        <p:spPr>
          <a:xfrm>
            <a:off x="1609344"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Rounded Rectangle 99"/>
          <p:cNvSpPr/>
          <p:nvPr/>
        </p:nvSpPr>
        <p:spPr>
          <a:xfrm>
            <a:off x="1783080"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01" name="TextBox 100"/>
          <p:cNvSpPr txBox="1"/>
          <p:nvPr/>
        </p:nvSpPr>
        <p:spPr>
          <a:xfrm>
            <a:off x="1856232"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She pastes it into Check, or taps the floating doll</a:t>
            </a:r>
          </a:p>
        </p:txBody>
      </p:sp>
      <p:cxnSp>
        <p:nvCxnSpPr>
          <p:cNvPr id="102" name="Connector 101"/>
          <p:cNvCxnSpPr/>
          <p:nvPr/>
        </p:nvCxnSpPr>
        <p:spPr>
          <a:xfrm>
            <a:off x="3054096"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3" name="Rounded Rectangle 102"/>
          <p:cNvSpPr/>
          <p:nvPr/>
        </p:nvSpPr>
        <p:spPr>
          <a:xfrm>
            <a:off x="3227832" y="1426464"/>
            <a:ext cx="1243584" cy="1188720"/>
          </a:xfrm>
          <a:prstGeom prst="roundRect">
            <a:avLst>
              <a:gd name="adj" fmla="val 6153"/>
            </a:avLst>
          </a:prstGeom>
          <a:solidFill>
            <a:srgbClr val="9F1239"/>
          </a:solidFill>
          <a:ln>
            <a:noFill/>
          </a:ln>
          <a:effectLst/>
        </p:spPr>
        <p:txBody>
          <a:bodyPr rtlCol="0" anchor="ctr"/>
          <a:lstStyle/>
          <a:p/>
        </p:txBody>
      </p:sp>
      <p:sp>
        <p:nvSpPr>
          <p:cNvPr id="104" name="TextBox 103"/>
          <p:cNvSpPr txBox="1"/>
          <p:nvPr/>
        </p:nvSpPr>
        <p:spPr>
          <a:xfrm>
            <a:off x="3300984" y="1481328"/>
            <a:ext cx="1097280" cy="1078992"/>
          </a:xfrm>
          <a:prstGeom prst="rect">
            <a:avLst/>
          </a:prstGeom>
          <a:noFill/>
        </p:spPr>
        <p:txBody>
          <a:bodyPr wrap="square" anchor="ctr" lIns="0" rIns="0" tIns="0" bIns="0"/>
          <a:lstStyle/>
          <a:p>
            <a:pPr algn="ctr">
              <a:lnSpc>
                <a:spcPct val="108000"/>
              </a:lnSpc>
            </a:pPr>
            <a:r>
              <a:rPr sz="1100" b="0">
                <a:solidFill>
                  <a:srgbClr val="FFFFFF"/>
                </a:solidFill>
                <a:latin typeface="Google Sans Flex"/>
                <a:ea typeface="Google Sans Flex"/>
                <a:cs typeface="Google Sans Flex"/>
                <a:sym typeface="Google Sans Flex"/>
              </a:rPr>
              <a:t>High risk. Her own words are quoted as warning signs</a:t>
            </a:r>
          </a:p>
        </p:txBody>
      </p:sp>
      <p:cxnSp>
        <p:nvCxnSpPr>
          <p:cNvPr id="105" name="Connector 104"/>
          <p:cNvCxnSpPr/>
          <p:nvPr/>
        </p:nvCxnSpPr>
        <p:spPr>
          <a:xfrm>
            <a:off x="4498848"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4672584"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07" name="TextBox 106"/>
          <p:cNvSpPr txBox="1"/>
          <p:nvPr/>
        </p:nvSpPr>
        <p:spPr>
          <a:xfrm>
            <a:off x="4745736"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Job Shield: the ad says no fees, the chat asks for a deposit</a:t>
            </a:r>
          </a:p>
        </p:txBody>
      </p:sp>
      <p:cxnSp>
        <p:nvCxnSpPr>
          <p:cNvPr id="108" name="Connector 107"/>
          <p:cNvCxnSpPr/>
          <p:nvPr/>
        </p:nvCxnSpPr>
        <p:spPr>
          <a:xfrm>
            <a:off x="5943600"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9" name="Rounded Rectangle 108"/>
          <p:cNvSpPr/>
          <p:nvPr/>
        </p:nvSpPr>
        <p:spPr>
          <a:xfrm>
            <a:off x="6117336"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10" name="TextBox 109"/>
          <p:cNvSpPr txBox="1"/>
          <p:nvPr/>
        </p:nvSpPr>
        <p:spPr>
          <a:xfrm>
            <a:off x="6190488"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She asks Pyit Taing Htaung, in Burmese</a:t>
            </a:r>
          </a:p>
        </p:txBody>
      </p:sp>
      <p:cxnSp>
        <p:nvCxnSpPr>
          <p:cNvPr id="111" name="Connector 110"/>
          <p:cNvCxnSpPr/>
          <p:nvPr/>
        </p:nvCxnSpPr>
        <p:spPr>
          <a:xfrm>
            <a:off x="7388352" y="2020824"/>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2" name="Rounded Rectangle 111"/>
          <p:cNvSpPr/>
          <p:nvPr/>
        </p:nvSpPr>
        <p:spPr>
          <a:xfrm>
            <a:off x="7562088" y="1426464"/>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13" name="TextBox 112"/>
          <p:cNvSpPr txBox="1"/>
          <p:nvPr/>
        </p:nvSpPr>
        <p:spPr>
          <a:xfrm>
            <a:off x="7635240" y="1481328"/>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She warns her mother. She does not pay or travel</a:t>
            </a:r>
          </a:p>
        </p:txBody>
      </p:sp>
      <p:sp>
        <p:nvSpPr>
          <p:cNvPr id="114" name="TextBox 113"/>
          <p:cNvSpPr txBox="1"/>
          <p:nvPr/>
        </p:nvSpPr>
        <p:spPr>
          <a:xfrm>
            <a:off x="338328" y="2889504"/>
            <a:ext cx="8229600" cy="27432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The check flow, within a 15 second budget</a:t>
            </a:r>
          </a:p>
        </p:txBody>
      </p:sp>
      <p:sp>
        <p:nvSpPr>
          <p:cNvPr id="115" name="Rounded Rectangle 114"/>
          <p:cNvSpPr/>
          <p:nvPr/>
        </p:nvSpPr>
        <p:spPr>
          <a:xfrm>
            <a:off x="338328"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16" name="TextBox 115"/>
          <p:cNvSpPr txBox="1"/>
          <p:nvPr/>
        </p:nvSpPr>
        <p:spPr>
          <a:xfrm>
            <a:off x="411480"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Text, link or screenshot, with the user's language</a:t>
            </a:r>
          </a:p>
        </p:txBody>
      </p:sp>
      <p:cxnSp>
        <p:nvCxnSpPr>
          <p:cNvPr id="117" name="Connector 116"/>
          <p:cNvCxnSpPr/>
          <p:nvPr/>
        </p:nvCxnSpPr>
        <p:spPr>
          <a:xfrm>
            <a:off x="1609344"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1783080" y="3218688"/>
            <a:ext cx="1243584" cy="1188720"/>
          </a:xfrm>
          <a:prstGeom prst="roundRect">
            <a:avLst>
              <a:gd name="adj" fmla="val 6153"/>
            </a:avLst>
          </a:prstGeom>
          <a:solidFill>
            <a:srgbClr val="1F1A17"/>
          </a:solidFill>
          <a:ln>
            <a:noFill/>
          </a:ln>
          <a:effectLst/>
        </p:spPr>
        <p:txBody>
          <a:bodyPr rtlCol="0" anchor="ctr"/>
          <a:lstStyle/>
          <a:p/>
        </p:txBody>
      </p:sp>
      <p:sp>
        <p:nvSpPr>
          <p:cNvPr id="119" name="TextBox 118"/>
          <p:cNvSpPr txBox="1"/>
          <p:nvPr/>
        </p:nvSpPr>
        <p:spPr>
          <a:xfrm>
            <a:off x="1856232" y="3273552"/>
            <a:ext cx="1097280" cy="1078992"/>
          </a:xfrm>
          <a:prstGeom prst="rect">
            <a:avLst/>
          </a:prstGeom>
          <a:noFill/>
        </p:spPr>
        <p:txBody>
          <a:bodyPr wrap="square" anchor="ctr" lIns="0" rIns="0" tIns="0" bIns="0"/>
          <a:lstStyle/>
          <a:p>
            <a:pPr algn="ctr">
              <a:lnSpc>
                <a:spcPct val="108000"/>
              </a:lnSpc>
            </a:pPr>
            <a:r>
              <a:rPr sz="1100" b="0">
                <a:solidFill>
                  <a:srgbClr val="FFFFFF"/>
                </a:solidFill>
                <a:latin typeface="Google Sans Flex"/>
                <a:ea typeface="Google Sans Flex"/>
                <a:cs typeface="Google Sans Flex"/>
                <a:sym typeface="Google Sans Flex"/>
              </a:rPr>
              <a:t>Gemini extraction: flags, quotes and links as JSON</a:t>
            </a:r>
          </a:p>
        </p:txBody>
      </p:sp>
      <p:cxnSp>
        <p:nvCxnSpPr>
          <p:cNvPr id="120" name="Connector 119"/>
          <p:cNvCxnSpPr/>
          <p:nvPr/>
        </p:nvCxnSpPr>
        <p:spPr>
          <a:xfrm>
            <a:off x="3054096"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3227832"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22" name="TextBox 121"/>
          <p:cNvSpPr txBox="1"/>
          <p:nvPr/>
        </p:nvSpPr>
        <p:spPr>
          <a:xfrm>
            <a:off x="3300984"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In parallel: Search grounding, link checks, scam network</a:t>
            </a:r>
          </a:p>
        </p:txBody>
      </p:sp>
      <p:cxnSp>
        <p:nvCxnSpPr>
          <p:cNvPr id="123" name="Connector 122"/>
          <p:cNvCxnSpPr/>
          <p:nvPr/>
        </p:nvCxnSpPr>
        <p:spPr>
          <a:xfrm>
            <a:off x="4498848"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4672584"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25" name="TextBox 124"/>
          <p:cNvSpPr txBox="1"/>
          <p:nvPr/>
        </p:nvSpPr>
        <p:spPr>
          <a:xfrm>
            <a:off x="4745736"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Likelihood guard rewrites certainty words</a:t>
            </a:r>
          </a:p>
        </p:txBody>
      </p:sp>
      <p:cxnSp>
        <p:nvCxnSpPr>
          <p:cNvPr id="126" name="Connector 125"/>
          <p:cNvCxnSpPr/>
          <p:nvPr/>
        </p:nvCxnSpPr>
        <p:spPr>
          <a:xfrm>
            <a:off x="5943600"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Rounded Rectangle 126"/>
          <p:cNvSpPr/>
          <p:nvPr/>
        </p:nvSpPr>
        <p:spPr>
          <a:xfrm>
            <a:off x="6117336" y="3218688"/>
            <a:ext cx="1243584" cy="1188720"/>
          </a:xfrm>
          <a:prstGeom prst="roundRect">
            <a:avLst>
              <a:gd name="adj" fmla="val 6153"/>
            </a:avLst>
          </a:prstGeom>
          <a:solidFill>
            <a:srgbClr val="1F1A17"/>
          </a:solidFill>
          <a:ln>
            <a:noFill/>
          </a:ln>
          <a:effectLst/>
        </p:spPr>
        <p:txBody>
          <a:bodyPr rtlCol="0" anchor="ctr"/>
          <a:lstStyle/>
          <a:p/>
        </p:txBody>
      </p:sp>
      <p:sp>
        <p:nvSpPr>
          <p:cNvPr id="128" name="TextBox 127"/>
          <p:cNvSpPr txBox="1"/>
          <p:nvPr/>
        </p:nvSpPr>
        <p:spPr>
          <a:xfrm>
            <a:off x="6190488" y="3273552"/>
            <a:ext cx="1097280" cy="1078992"/>
          </a:xfrm>
          <a:prstGeom prst="rect">
            <a:avLst/>
          </a:prstGeom>
          <a:noFill/>
        </p:spPr>
        <p:txBody>
          <a:bodyPr wrap="square" anchor="ctr" lIns="0" rIns="0" tIns="0" bIns="0"/>
          <a:lstStyle/>
          <a:p>
            <a:pPr algn="ctr">
              <a:lnSpc>
                <a:spcPct val="108000"/>
              </a:lnSpc>
            </a:pPr>
            <a:r>
              <a:rPr sz="1100" b="0">
                <a:solidFill>
                  <a:srgbClr val="FFFFFF"/>
                </a:solidFill>
                <a:latin typeface="Google Sans Flex"/>
                <a:ea typeface="Google Sans Flex"/>
                <a:cs typeface="Google Sans Flex"/>
                <a:sym typeface="Google Sans Flex"/>
              </a:rPr>
              <a:t>Rules engine sets the score and the verdict</a:t>
            </a:r>
          </a:p>
        </p:txBody>
      </p:sp>
      <p:cxnSp>
        <p:nvCxnSpPr>
          <p:cNvPr id="129" name="Connector 128"/>
          <p:cNvCxnSpPr/>
          <p:nvPr/>
        </p:nvCxnSpPr>
        <p:spPr>
          <a:xfrm>
            <a:off x="7388352" y="3813048"/>
            <a:ext cx="146304" cy="0"/>
          </a:xfrm>
          <a:prstGeom prst="line">
            <a:avLst/>
          </a:prstGeom>
          <a:ln w="19050">
            <a:solidFill>
              <a:srgbClr val="1F1A1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Rounded Rectangle 129"/>
          <p:cNvSpPr/>
          <p:nvPr/>
        </p:nvSpPr>
        <p:spPr>
          <a:xfrm>
            <a:off x="7562088" y="3218688"/>
            <a:ext cx="1243584" cy="1188720"/>
          </a:xfrm>
          <a:prstGeom prst="roundRect">
            <a:avLst>
              <a:gd name="adj" fmla="val 6153"/>
            </a:avLst>
          </a:prstGeom>
          <a:solidFill>
            <a:srgbClr val="F7F3EE"/>
          </a:solidFill>
          <a:ln w="9525">
            <a:solidFill>
              <a:srgbClr val="E6DED3"/>
            </a:solidFill>
          </a:ln>
          <a:effectLst/>
        </p:spPr>
        <p:txBody>
          <a:bodyPr rtlCol="0" anchor="ctr"/>
          <a:lstStyle/>
          <a:p/>
        </p:txBody>
      </p:sp>
      <p:sp>
        <p:nvSpPr>
          <p:cNvPr id="131" name="TextBox 130"/>
          <p:cNvSpPr txBox="1"/>
          <p:nvPr/>
        </p:nvSpPr>
        <p:spPr>
          <a:xfrm>
            <a:off x="7635240" y="3273552"/>
            <a:ext cx="1097280" cy="1078992"/>
          </a:xfrm>
          <a:prstGeom prst="rect">
            <a:avLst/>
          </a:prstGeom>
          <a:noFill/>
        </p:spPr>
        <p:txBody>
          <a:bodyPr wrap="square" anchor="ctr" lIns="0" rIns="0" tIns="0" bIns="0"/>
          <a:lstStyle/>
          <a:p>
            <a:pPr algn="ctr">
              <a:lnSpc>
                <a:spcPct val="108000"/>
              </a:lnSpc>
            </a:pPr>
            <a:r>
              <a:rPr sz="1100" b="0">
                <a:solidFill>
                  <a:srgbClr val="1F1A17"/>
                </a:solidFill>
                <a:latin typeface="Google Sans Flex"/>
                <a:ea typeface="Google Sans Flex"/>
                <a:cs typeface="Google Sans Flex"/>
                <a:sym typeface="Google Sans Flex"/>
              </a:rPr>
              <a:t>Report, spoken warning (TTS) and voice chat (Live)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pic>
        <p:nvPicPr>
          <p:cNvPr id="104" name="Picture 103" descr="mock-home-off.png"/>
          <p:cNvPicPr>
            <a:picLocks noChangeAspect="1"/>
          </p:cNvPicPr>
          <p:nvPr/>
        </p:nvPicPr>
        <p:blipFill>
          <a:blip r:embed="rId5"/>
          <a:stretch>
            <a:fillRect/>
          </a:stretch>
        </p:blipFill>
        <p:spPr>
          <a:xfrm>
            <a:off x="1259609" y="1115568"/>
            <a:ext cx="1672766" cy="3154680"/>
          </a:xfrm>
          <a:prstGeom prst="rect">
            <a:avLst/>
          </a:prstGeom>
          <a:ln w="9525">
            <a:solidFill>
              <a:srgbClr val="E6DED3"/>
            </a:solidFill>
          </a:ln>
        </p:spPr>
      </p:pic>
      <p:sp>
        <p:nvSpPr>
          <p:cNvPr id="105" name="TextBox 104"/>
          <p:cNvSpPr txBox="1"/>
          <p:nvPr/>
        </p:nvSpPr>
        <p:spPr>
          <a:xfrm>
            <a:off x="1168169" y="4325112"/>
            <a:ext cx="1855646"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Home, shield off</a:t>
            </a:r>
          </a:p>
        </p:txBody>
      </p:sp>
      <p:pic>
        <p:nvPicPr>
          <p:cNvPr id="106" name="Picture 105" descr="mock-home-on.png"/>
          <p:cNvPicPr>
            <a:picLocks noChangeAspect="1"/>
          </p:cNvPicPr>
          <p:nvPr/>
        </p:nvPicPr>
        <p:blipFill>
          <a:blip r:embed="rId6"/>
          <a:stretch>
            <a:fillRect/>
          </a:stretch>
        </p:blipFill>
        <p:spPr>
          <a:xfrm>
            <a:off x="3252415" y="1115568"/>
            <a:ext cx="1676508" cy="3154680"/>
          </a:xfrm>
          <a:prstGeom prst="rect">
            <a:avLst/>
          </a:prstGeom>
          <a:ln w="9525">
            <a:solidFill>
              <a:srgbClr val="E6DED3"/>
            </a:solidFill>
          </a:ln>
        </p:spPr>
      </p:pic>
      <p:sp>
        <p:nvSpPr>
          <p:cNvPr id="107" name="TextBox 106"/>
          <p:cNvSpPr txBox="1"/>
          <p:nvPr/>
        </p:nvSpPr>
        <p:spPr>
          <a:xfrm>
            <a:off x="3160975" y="4325112"/>
            <a:ext cx="1859388"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Home, shield on</a:t>
            </a:r>
          </a:p>
        </p:txBody>
      </p:sp>
      <p:pic>
        <p:nvPicPr>
          <p:cNvPr id="108" name="Picture 107" descr="mock-check-empty.png"/>
          <p:cNvPicPr>
            <a:picLocks noChangeAspect="1"/>
          </p:cNvPicPr>
          <p:nvPr/>
        </p:nvPicPr>
        <p:blipFill>
          <a:blip r:embed="rId7"/>
          <a:stretch>
            <a:fillRect/>
          </a:stretch>
        </p:blipFill>
        <p:spPr>
          <a:xfrm>
            <a:off x="5248964" y="1115568"/>
            <a:ext cx="1156360" cy="3154680"/>
          </a:xfrm>
          <a:prstGeom prst="rect">
            <a:avLst/>
          </a:prstGeom>
          <a:ln w="9525">
            <a:solidFill>
              <a:srgbClr val="E6DED3"/>
            </a:solidFill>
          </a:ln>
        </p:spPr>
      </p:pic>
      <p:sp>
        <p:nvSpPr>
          <p:cNvPr id="109" name="TextBox 108"/>
          <p:cNvSpPr txBox="1"/>
          <p:nvPr/>
        </p:nvSpPr>
        <p:spPr>
          <a:xfrm>
            <a:off x="5157524" y="4325112"/>
            <a:ext cx="1339240"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Job offer, empty</a:t>
            </a:r>
          </a:p>
        </p:txBody>
      </p:sp>
      <p:pic>
        <p:nvPicPr>
          <p:cNvPr id="110" name="Picture 109" descr="mock-check-filled.png"/>
          <p:cNvPicPr>
            <a:picLocks noChangeAspect="1"/>
          </p:cNvPicPr>
          <p:nvPr/>
        </p:nvPicPr>
        <p:blipFill>
          <a:blip r:embed="rId8"/>
          <a:stretch>
            <a:fillRect/>
          </a:stretch>
        </p:blipFill>
        <p:spPr>
          <a:xfrm>
            <a:off x="6725365" y="1115568"/>
            <a:ext cx="1159025" cy="3154680"/>
          </a:xfrm>
          <a:prstGeom prst="rect">
            <a:avLst/>
          </a:prstGeom>
          <a:ln w="9525">
            <a:solidFill>
              <a:srgbClr val="E6DED3"/>
            </a:solidFill>
          </a:ln>
        </p:spPr>
      </p:pic>
      <p:sp>
        <p:nvSpPr>
          <p:cNvPr id="111" name="TextBox 110"/>
          <p:cNvSpPr txBox="1"/>
          <p:nvPr/>
        </p:nvSpPr>
        <p:spPr>
          <a:xfrm>
            <a:off x="6633925" y="4325112"/>
            <a:ext cx="1341905" cy="274320"/>
          </a:xfrm>
          <a:prstGeom prst="rect">
            <a:avLst/>
          </a:prstGeom>
          <a:noFill/>
        </p:spPr>
        <p:txBody>
          <a:bodyPr wrap="square" anchor="t" lIns="0" rIns="0" tIns="0" bIns="0"/>
          <a:lstStyle/>
          <a:p>
            <a:pPr algn="ctr">
              <a:lnSpc>
                <a:spcPct val="110000"/>
              </a:lnSpc>
            </a:pPr>
            <a:r>
              <a:rPr sz="1050" b="1">
                <a:solidFill>
                  <a:srgbClr val="1F1A17"/>
                </a:solidFill>
                <a:latin typeface="Google Sans Flex"/>
                <a:ea typeface="Google Sans Flex"/>
                <a:cs typeface="Google Sans Flex"/>
                <a:sym typeface="Google Sans Flex"/>
              </a:rPr>
              <a:t>Job offer, filled</a:t>
            </a:r>
          </a:p>
        </p:txBody>
      </p:sp>
      <p:sp>
        <p:nvSpPr>
          <p:cNvPr id="112" name="TextBox 111"/>
          <p:cNvSpPr txBox="1"/>
          <p:nvPr/>
        </p:nvSpPr>
        <p:spPr>
          <a:xfrm>
            <a:off x="338328" y="4681728"/>
            <a:ext cx="8467344" cy="274320"/>
          </a:xfrm>
          <a:prstGeom prst="rect">
            <a:avLst/>
          </a:prstGeom>
          <a:noFill/>
        </p:spPr>
        <p:txBody>
          <a:bodyPr wrap="square" anchor="t" lIns="0" rIns="0" tIns="0" bIns="0"/>
          <a:lstStyle/>
          <a:p>
            <a:pPr algn="l">
              <a:lnSpc>
                <a:spcPct val="110000"/>
              </a:lnSpc>
            </a:pPr>
            <a:r>
              <a:rPr sz="850" b="0">
                <a:solidFill>
                  <a:srgbClr val="6B635C"/>
                </a:solidFill>
                <a:latin typeface="Google Sans Flex"/>
                <a:ea typeface="Google Sans Flex"/>
                <a:cs typeface="Google Sans Flex"/>
                <a:sym typeface="Google Sans Flex"/>
              </a:rPr>
              <a:t>Approved design mockups for the next Home (one big shield button) and Check page, in English. The logo row is cropped.</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pic>
        <p:nvPicPr>
          <p:cNvPr id="112" name="Picture 111" descr="arch.png"/>
          <p:cNvPicPr>
            <a:picLocks noChangeAspect="1"/>
          </p:cNvPicPr>
          <p:nvPr/>
        </p:nvPicPr>
        <p:blipFill>
          <a:blip r:embed="rId5"/>
          <a:stretch>
            <a:fillRect/>
          </a:stretch>
        </p:blipFill>
        <p:spPr>
          <a:xfrm>
            <a:off x="384048" y="1115568"/>
            <a:ext cx="8366760" cy="2788920"/>
          </a:xfrm>
          <a:prstGeom prst="rect">
            <a:avLst/>
          </a:prstGeom>
        </p:spPr>
      </p:pic>
      <p:sp>
        <p:nvSpPr>
          <p:cNvPr id="113" name="Rounded Rectangle 112"/>
          <p:cNvSpPr/>
          <p:nvPr/>
        </p:nvSpPr>
        <p:spPr>
          <a:xfrm>
            <a:off x="338328" y="3950208"/>
            <a:ext cx="4160520" cy="841248"/>
          </a:xfrm>
          <a:prstGeom prst="roundRect">
            <a:avLst>
              <a:gd name="adj" fmla="val 8695"/>
            </a:avLst>
          </a:prstGeom>
          <a:solidFill>
            <a:srgbClr val="F7F3EE"/>
          </a:solidFill>
          <a:ln w="9525">
            <a:solidFill>
              <a:srgbClr val="E6DED3"/>
            </a:solidFill>
          </a:ln>
          <a:effectLst/>
        </p:spPr>
        <p:txBody>
          <a:bodyPr rtlCol="0" anchor="ctr"/>
          <a:lstStyle/>
          <a:p/>
        </p:txBody>
      </p:sp>
      <p:sp>
        <p:nvSpPr>
          <p:cNvPr id="114" name="TextBox 113"/>
          <p:cNvSpPr txBox="1"/>
          <p:nvPr/>
        </p:nvSpPr>
        <p:spPr>
          <a:xfrm>
            <a:off x="475488" y="4023360"/>
            <a:ext cx="3931920" cy="731520"/>
          </a:xfrm>
          <a:prstGeom prst="rect">
            <a:avLst/>
          </a:prstGeom>
          <a:noFill/>
        </p:spPr>
        <p:txBody>
          <a:bodyPr wrap="square" anchor="t" lIns="0" rIns="0" tIns="0" bIns="0"/>
          <a:lstStyle/>
          <a:p>
            <a:pPr algn="l">
              <a:lnSpc>
                <a:spcPct val="110000"/>
              </a:lnSpc>
            </a:pPr>
            <a:r>
              <a:rPr sz="1100" b="1">
                <a:solidFill>
                  <a:srgbClr val="1F1A17"/>
                </a:solidFill>
                <a:latin typeface="Google Sans Flex"/>
                <a:ea typeface="Google Sans Flex"/>
                <a:cs typeface="Google Sans Flex"/>
                <a:sym typeface="Google Sans Flex"/>
              </a:rPr>
              <a:t>Firebase</a:t>
            </a:r>
          </a:p>
          <a:p>
            <a:pPr algn="l">
              <a:lnSpc>
                <a:spcPct val="110000"/>
              </a:lnSpc>
              <a:spcBef>
                <a:spcPts val="200"/>
              </a:spcBef>
            </a:pPr>
            <a:r>
              <a:rPr sz="1050" b="0">
                <a:solidFill>
                  <a:srgbClr val="57504A"/>
                </a:solidFill>
                <a:latin typeface="Google Sans Flex"/>
                <a:ea typeface="Google Sans Flex"/>
                <a:cs typeface="Google Sans Flex"/>
                <a:sym typeface="Google Sans Flex"/>
              </a:rPr>
              <a:t>Auth, Firestore, Hosting for the web demo, App Distribution for test builds.</a:t>
            </a:r>
          </a:p>
        </p:txBody>
      </p:sp>
      <p:sp>
        <p:nvSpPr>
          <p:cNvPr id="115" name="Rounded Rectangle 114"/>
          <p:cNvSpPr/>
          <p:nvPr/>
        </p:nvSpPr>
        <p:spPr>
          <a:xfrm>
            <a:off x="4645152" y="3950208"/>
            <a:ext cx="4160520" cy="841248"/>
          </a:xfrm>
          <a:prstGeom prst="roundRect">
            <a:avLst>
              <a:gd name="adj" fmla="val 8695"/>
            </a:avLst>
          </a:prstGeom>
          <a:solidFill>
            <a:srgbClr val="F7F3EE"/>
          </a:solidFill>
          <a:ln w="9525">
            <a:solidFill>
              <a:srgbClr val="E6DED3"/>
            </a:solidFill>
          </a:ln>
          <a:effectLst/>
        </p:spPr>
        <p:txBody>
          <a:bodyPr rtlCol="0" anchor="ctr"/>
          <a:lstStyle/>
          <a:p/>
        </p:txBody>
      </p:sp>
      <p:sp>
        <p:nvSpPr>
          <p:cNvPr id="116" name="TextBox 115"/>
          <p:cNvSpPr txBox="1"/>
          <p:nvPr/>
        </p:nvSpPr>
        <p:spPr>
          <a:xfrm>
            <a:off x="4782312" y="4023360"/>
            <a:ext cx="3931920" cy="731520"/>
          </a:xfrm>
          <a:prstGeom prst="rect">
            <a:avLst/>
          </a:prstGeom>
          <a:noFill/>
        </p:spPr>
        <p:txBody>
          <a:bodyPr wrap="square" anchor="t" lIns="0" rIns="0" tIns="0" bIns="0"/>
          <a:lstStyle/>
          <a:p>
            <a:pPr algn="l">
              <a:lnSpc>
                <a:spcPct val="110000"/>
              </a:lnSpc>
            </a:pPr>
            <a:r>
              <a:rPr sz="1100" b="1">
                <a:solidFill>
                  <a:srgbClr val="1F1A17"/>
                </a:solidFill>
                <a:latin typeface="Google Sans Flex"/>
                <a:ea typeface="Google Sans Flex"/>
                <a:cs typeface="Google Sans Flex"/>
                <a:sym typeface="Google Sans Flex"/>
              </a:rPr>
              <a:t>API hosting today</a:t>
            </a:r>
          </a:p>
          <a:p>
            <a:pPr algn="l">
              <a:lnSpc>
                <a:spcPct val="110000"/>
              </a:lnSpc>
              <a:spcBef>
                <a:spcPts val="200"/>
              </a:spcBef>
            </a:pPr>
            <a:r>
              <a:rPr sz="1050" b="0">
                <a:solidFill>
                  <a:srgbClr val="57504A"/>
                </a:solidFill>
                <a:latin typeface="Google Sans Flex"/>
                <a:ea typeface="Google Sans Flex"/>
                <a:cs typeface="Google Sans Flex"/>
                <a:sym typeface="Google Sans Flex"/>
              </a:rPr>
              <a:t>A Hono service on our host behind a Cloudflare tunnel. The Cloud Run deploy script is ready and needs a billing account.</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graphicFrame>
        <p:nvGraphicFramePr>
          <p:cNvPr id="120" name="Table 119"/>
          <p:cNvGraphicFramePr>
            <a:graphicFrameLocks noGrp="1"/>
          </p:cNvGraphicFramePr>
          <p:nvPr/>
        </p:nvGraphicFramePr>
        <p:xfrm>
          <a:off x="338328" y="1097280"/>
          <a:ext cx="8467344" cy="3319272"/>
        </p:xfrm>
        <a:graphic>
          <a:graphicData uri="http://schemas.openxmlformats.org/drawingml/2006/table">
            <a:tbl>
              <a:tblPr firstRow="0" bandRow="0">
                <a:tableStyleId>{5940675A-B579-460E-94D1-54222C63F5DA}</a:tableStyleId>
              </a:tblPr>
              <a:tblGrid>
                <a:gridCol w="3108960"/>
                <a:gridCol w="5358384"/>
              </a:tblGrid>
              <a:tr h="301752">
                <a:tc>
                  <a:txBody>
                    <a:bodyPr/>
                    <a:lstStyle/>
                    <a:p>
                      <a:r>
                        <a:rPr sz="1050" b="1">
                          <a:solidFill>
                            <a:srgbClr val="FFFFFF"/>
                          </a:solidFill>
                          <a:latin typeface="Google Sans Flex"/>
                          <a:ea typeface="Google Sans Flex"/>
                          <a:cs typeface="Google Sans Flex"/>
                          <a:sym typeface="Google Sans Flex"/>
                        </a:rPr>
                        <a:t>Technology</a:t>
                      </a:r>
                    </a:p>
                  </a:txBody>
                  <a:tcPr marL="91440" marR="91440" marT="27432" marB="27432" anchor="ctr">
                    <a:solidFill>
                      <a:srgbClr val="1F1A17"/>
                    </a:solidFill>
                  </a:tcPr>
                </a:tc>
                <a:tc>
                  <a:txBody>
                    <a:bodyPr/>
                    <a:lstStyle/>
                    <a:p>
                      <a:r>
                        <a:rPr sz="1050" b="1">
                          <a:solidFill>
                            <a:srgbClr val="FFFFFF"/>
                          </a:solidFill>
                          <a:latin typeface="Google Sans Flex"/>
                          <a:ea typeface="Google Sans Flex"/>
                          <a:cs typeface="Google Sans Flex"/>
                          <a:sym typeface="Google Sans Flex"/>
                        </a:rPr>
                        <a:t>Use in Kakwe</a:t>
                      </a:r>
                    </a:p>
                  </a:txBody>
                  <a:tcPr marL="91440" marR="91440" marT="27432" marB="27432" anchor="ctr">
                    <a:solidFill>
                      <a:srgbClr val="1F1A17"/>
                    </a:solidFill>
                  </a:tcPr>
                </a:tc>
              </a:tr>
              <a:tr h="301752">
                <a:tc>
                  <a:txBody>
                    <a:bodyPr/>
                    <a:lstStyle/>
                    <a:p>
                      <a:r>
                        <a:rPr sz="1050" b="1">
                          <a:solidFill>
                            <a:srgbClr val="1F1A17"/>
                          </a:solidFill>
                          <a:latin typeface="Google Sans Flex"/>
                          <a:ea typeface="Google Sans Flex"/>
                          <a:cs typeface="Google Sans Flex"/>
                          <a:sym typeface="Google Sans Flex"/>
                        </a:rPr>
                        <a:t>Gemini API, gemini-3.5-flash-lite</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Multimodal extraction with a JSON response schema; Job Shield fact extraction</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Grounding with Google Search</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Checks that named agencies and companies exist</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Gemini TTS, gemini-3.8-flash-tts</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Spoken warnings in five languages</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Gemini Live API, gemini-3.8-live</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The voice companion, Pyit Taing Htaung</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Web Risk API, Safe Browsing API</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Known malicious links</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Firebase Auth, Firestore</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Anonymous and Google sign-in, synced history and contacts, the scam network</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Firebase Hosting, App Distribution</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The web demo and Android test builds</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Expo 52, React Native 0.76, TypeScript</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The Android app and the web demo</a:t>
                      </a:r>
                    </a:p>
                  </a:txBody>
                  <a:tcPr marL="91440" marR="91440" marT="27432" marB="27432" anchor="ctr">
                    <a:solidFill>
                      <a:srgbClr val="FFFFFF"/>
                    </a:solidFill>
                  </a:tcPr>
                </a:tc>
              </a:tr>
              <a:tr h="301752">
                <a:tc>
                  <a:txBody>
                    <a:bodyPr/>
                    <a:lstStyle/>
                    <a:p>
                      <a:r>
                        <a:rPr sz="1050" b="1">
                          <a:solidFill>
                            <a:srgbClr val="1F1A17"/>
                          </a:solidFill>
                          <a:latin typeface="Google Sans Flex"/>
                          <a:ea typeface="Google Sans Flex"/>
                          <a:cs typeface="Google Sans Flex"/>
                          <a:sym typeface="Google Sans Flex"/>
                        </a:rPr>
                        <a:t>Hono on Node 22, TypeScript</a:t>
                      </a:r>
                    </a:p>
                  </a:txBody>
                  <a:tcPr marL="91440" marR="91440" marT="27432" marB="27432" anchor="ctr">
                    <a:solidFill>
                      <a:srgbClr val="F7F3EE"/>
                    </a:solidFill>
                  </a:tcPr>
                </a:tc>
                <a:tc>
                  <a:txBody>
                    <a:bodyPr/>
                    <a:lstStyle/>
                    <a:p>
                      <a:r>
                        <a:rPr sz="1050" b="0">
                          <a:solidFill>
                            <a:srgbClr val="57504A"/>
                          </a:solidFill>
                          <a:latin typeface="Google Sans Flex"/>
                          <a:ea typeface="Google Sans Flex"/>
                          <a:cs typeface="Google Sans Flex"/>
                          <a:sym typeface="Google Sans Flex"/>
                        </a:rPr>
                        <a:t>The check API, the rules engine and the voice relay</a:t>
                      </a:r>
                    </a:p>
                  </a:txBody>
                  <a:tcPr marL="91440" marR="91440" marT="27432" marB="27432" anchor="ctr">
                    <a:solidFill>
                      <a:srgbClr val="F7F3EE"/>
                    </a:solidFill>
                  </a:tcPr>
                </a:tc>
              </a:tr>
              <a:tr h="301752">
                <a:tc>
                  <a:txBody>
                    <a:bodyPr/>
                    <a:lstStyle/>
                    <a:p>
                      <a:r>
                        <a:rPr sz="1050" b="1">
                          <a:solidFill>
                            <a:srgbClr val="1F1A17"/>
                          </a:solidFill>
                          <a:latin typeface="Google Sans Flex"/>
                          <a:ea typeface="Google Sans Flex"/>
                          <a:cs typeface="Google Sans Flex"/>
                          <a:sym typeface="Google Sans Flex"/>
                        </a:rPr>
                        <a:t>Kotlin Android module</a:t>
                      </a:r>
                    </a:p>
                  </a:txBody>
                  <a:tcPr marL="91440" marR="91440" marT="27432" marB="27432" anchor="ctr">
                    <a:solidFill>
                      <a:srgbClr val="FFFFFF"/>
                    </a:solidFill>
                  </a:tcPr>
                </a:tc>
                <a:tc>
                  <a:txBody>
                    <a:bodyPr/>
                    <a:lstStyle/>
                    <a:p>
                      <a:r>
                        <a:rPr sz="1050" b="0">
                          <a:solidFill>
                            <a:srgbClr val="57504A"/>
                          </a:solidFill>
                          <a:latin typeface="Google Sans Flex"/>
                          <a:ea typeface="Google Sans Flex"/>
                          <a:cs typeface="Google Sans Flex"/>
                          <a:sym typeface="Google Sans Flex"/>
                        </a:rPr>
                        <a:t>The screen bubble and Message Guard</a:t>
                      </a:r>
                    </a:p>
                  </a:txBody>
                  <a:tcPr marL="91440" marR="91440" marT="27432" marB="27432"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38328" y="1115568"/>
            <a:ext cx="4160520" cy="3520440"/>
          </a:xfrm>
          <a:prstGeom prst="roundRect">
            <a:avLst>
              <a:gd name="adj" fmla="val 2077"/>
            </a:avLst>
          </a:prstGeom>
          <a:solidFill>
            <a:srgbClr val="F7F3EE"/>
          </a:solidFill>
          <a:ln w="9525">
            <a:solidFill>
              <a:srgbClr val="E6DED3"/>
            </a:solidFill>
          </a:ln>
          <a:effectLst/>
        </p:spPr>
        <p:txBody>
          <a:bodyPr rtlCol="0" anchor="ctr"/>
          <a:lstStyle/>
          <a:p/>
        </p:txBody>
      </p:sp>
      <p:sp>
        <p:nvSpPr>
          <p:cNvPr id="129" name="TextBox 128"/>
          <p:cNvSpPr txBox="1"/>
          <p:nvPr/>
        </p:nvSpPr>
        <p:spPr>
          <a:xfrm>
            <a:off x="502920" y="1252728"/>
            <a:ext cx="3831335" cy="3291840"/>
          </a:xfrm>
          <a:prstGeom prst="rect">
            <a:avLst/>
          </a:prstGeom>
          <a:noFill/>
        </p:spPr>
        <p:txBody>
          <a:bodyPr wrap="square" anchor="t" lIns="0" rIns="0" tIns="0" bIns="0"/>
          <a:lstStyle/>
          <a:p>
            <a:pPr algn="l">
              <a:lnSpc>
                <a:spcPct val="112000"/>
              </a:lnSpc>
            </a:pPr>
            <a:r>
              <a:rPr sz="1300" b="1">
                <a:solidFill>
                  <a:srgbClr val="1F1A17"/>
                </a:solidFill>
                <a:latin typeface="Google Sans Flex"/>
                <a:ea typeface="Google Sans Flex"/>
                <a:cs typeface="Google Sans Flex"/>
                <a:sym typeface="Google Sans Flex"/>
              </a:rPr>
              <a:t>Model calls per check</a:t>
            </a:r>
          </a:p>
          <a:p>
            <a:pPr algn="l">
              <a:lnSpc>
                <a:spcPct val="112000"/>
              </a:lnSpc>
              <a:spcBef>
                <a:spcPts val="700"/>
              </a:spcBef>
            </a:pPr>
            <a:r>
              <a:rPr sz="1200" b="0">
                <a:solidFill>
                  <a:srgbClr val="57504A"/>
                </a:solidFill>
                <a:latin typeface="Google Sans Flex"/>
                <a:ea typeface="Google Sans Flex"/>
                <a:cs typeface="Google Sans Flex"/>
                <a:sym typeface="Google Sans Flex"/>
              </a:rPr>
              <a:t>•  One Gemini extraction call (gemini-3.5-flash-lite), text plus an optional image.</a:t>
            </a:r>
          </a:p>
          <a:p>
            <a:pPr algn="l">
              <a:lnSpc>
                <a:spcPct val="112000"/>
              </a:lnSpc>
              <a:spcBef>
                <a:spcPts val="700"/>
              </a:spcBef>
            </a:pPr>
            <a:r>
              <a:rPr sz="1200" b="0">
                <a:solidFill>
                  <a:srgbClr val="57504A"/>
                </a:solidFill>
                <a:latin typeface="Google Sans Flex"/>
                <a:ea typeface="Google Sans Flex"/>
                <a:cs typeface="Google Sans Flex"/>
                <a:sym typeface="Google Sans Flex"/>
              </a:rPr>
              <a:t>•  A second Gemini call with Google Search grounding, only when a company, agency or website is named.</a:t>
            </a:r>
          </a:p>
          <a:p>
            <a:pPr algn="l">
              <a:lnSpc>
                <a:spcPct val="112000"/>
              </a:lnSpc>
              <a:spcBef>
                <a:spcPts val="700"/>
              </a:spcBef>
            </a:pPr>
            <a:r>
              <a:rPr sz="1200" b="0">
                <a:solidFill>
                  <a:srgbClr val="57504A"/>
                </a:solidFill>
                <a:latin typeface="Google Sans Flex"/>
                <a:ea typeface="Google Sans Flex"/>
                <a:cs typeface="Google Sans Flex"/>
                <a:sym typeface="Google Sans Flex"/>
              </a:rPr>
              <a:t>•  One Web Risk or Safe Browsing lookup and one RDAP lookup per link.</a:t>
            </a:r>
          </a:p>
          <a:p>
            <a:pPr algn="l">
              <a:lnSpc>
                <a:spcPct val="112000"/>
              </a:lnSpc>
              <a:spcBef>
                <a:spcPts val="700"/>
              </a:spcBef>
            </a:pPr>
            <a:r>
              <a:rPr sz="1200" b="0">
                <a:solidFill>
                  <a:srgbClr val="57504A"/>
                </a:solidFill>
                <a:latin typeface="Google Sans Flex"/>
                <a:ea typeface="Google Sans Flex"/>
                <a:cs typeface="Google Sans Flex"/>
                <a:sym typeface="Google Sans Flex"/>
              </a:rPr>
              <a:t>•  Gemini TTS only when a spoken warning is played.</a:t>
            </a:r>
          </a:p>
          <a:p>
            <a:pPr algn="l">
              <a:lnSpc>
                <a:spcPct val="112000"/>
              </a:lnSpc>
              <a:spcBef>
                <a:spcPts val="700"/>
              </a:spcBef>
            </a:pPr>
            <a:r>
              <a:rPr sz="1200" b="0">
                <a:solidFill>
                  <a:srgbClr val="57504A"/>
                </a:solidFill>
                <a:latin typeface="Google Sans Flex"/>
                <a:ea typeface="Google Sans Flex"/>
                <a:cs typeface="Google Sans Flex"/>
                <a:sym typeface="Google Sans Flex"/>
              </a:rPr>
              <a:t>•  A voice session lasts at most 120 seconds and counts as two checks.</a:t>
            </a:r>
          </a:p>
        </p:txBody>
      </p:sp>
      <p:sp>
        <p:nvSpPr>
          <p:cNvPr id="130" name="Rounded Rectangle 129"/>
          <p:cNvSpPr/>
          <p:nvPr/>
        </p:nvSpPr>
        <p:spPr>
          <a:xfrm>
            <a:off x="4645152" y="1115568"/>
            <a:ext cx="4160520" cy="3520440"/>
          </a:xfrm>
          <a:prstGeom prst="roundRect">
            <a:avLst>
              <a:gd name="adj" fmla="val 2077"/>
            </a:avLst>
          </a:prstGeom>
          <a:solidFill>
            <a:srgbClr val="F7F3EE"/>
          </a:solidFill>
          <a:ln w="9525">
            <a:solidFill>
              <a:srgbClr val="E6DED3"/>
            </a:solidFill>
          </a:ln>
          <a:effectLst/>
        </p:spPr>
        <p:txBody>
          <a:bodyPr rtlCol="0" anchor="ctr"/>
          <a:lstStyle/>
          <a:p/>
        </p:txBody>
      </p:sp>
      <p:sp>
        <p:nvSpPr>
          <p:cNvPr id="131" name="TextBox 130"/>
          <p:cNvSpPr txBox="1"/>
          <p:nvPr/>
        </p:nvSpPr>
        <p:spPr>
          <a:xfrm>
            <a:off x="4809744" y="1252728"/>
            <a:ext cx="3831335" cy="3291840"/>
          </a:xfrm>
          <a:prstGeom prst="rect">
            <a:avLst/>
          </a:prstGeom>
          <a:noFill/>
        </p:spPr>
        <p:txBody>
          <a:bodyPr wrap="square" anchor="t" lIns="0" rIns="0" tIns="0" bIns="0"/>
          <a:lstStyle/>
          <a:p>
            <a:pPr algn="l">
              <a:lnSpc>
                <a:spcPct val="112000"/>
              </a:lnSpc>
            </a:pPr>
            <a:r>
              <a:rPr sz="1300" b="1">
                <a:solidFill>
                  <a:srgbClr val="1F1A17"/>
                </a:solidFill>
                <a:latin typeface="Google Sans Flex"/>
                <a:ea typeface="Google Sans Flex"/>
                <a:cs typeface="Google Sans Flex"/>
                <a:sym typeface="Google Sans Flex"/>
              </a:rPr>
              <a:t>Cost controls in the API</a:t>
            </a:r>
          </a:p>
          <a:p>
            <a:pPr algn="l">
              <a:lnSpc>
                <a:spcPct val="112000"/>
              </a:lnSpc>
              <a:spcBef>
                <a:spcPts val="700"/>
              </a:spcBef>
            </a:pPr>
            <a:r>
              <a:rPr sz="1200" b="0">
                <a:solidFill>
                  <a:srgbClr val="57504A"/>
                </a:solidFill>
                <a:latin typeface="Google Sans Flex"/>
                <a:ea typeface="Google Sans Flex"/>
                <a:cs typeface="Google Sans Flex"/>
                <a:sym typeface="Google Sans Flex"/>
              </a:rPr>
              <a:t>•  An identical check within 10 minutes comes from the result cache.</a:t>
            </a:r>
          </a:p>
          <a:p>
            <a:pPr algn="l">
              <a:lnSpc>
                <a:spcPct val="112000"/>
              </a:lnSpc>
              <a:spcBef>
                <a:spcPts val="700"/>
              </a:spcBef>
            </a:pPr>
            <a:r>
              <a:rPr sz="1200" b="0">
                <a:solidFill>
                  <a:srgbClr val="57504A"/>
                </a:solidFill>
                <a:latin typeface="Google Sans Flex"/>
                <a:ea typeface="Google Sans Flex"/>
                <a:cs typeface="Google Sans Flex"/>
                <a:sym typeface="Google Sans Flex"/>
              </a:rPr>
              <a:t>•  Hourly limits: 20 checks anonymous, 60 signed in, and 30 requests a minute per IP.</a:t>
            </a:r>
          </a:p>
          <a:p>
            <a:pPr algn="l">
              <a:lnSpc>
                <a:spcPct val="112000"/>
              </a:lnSpc>
              <a:spcBef>
                <a:spcPts val="700"/>
              </a:spcBef>
            </a:pPr>
            <a:r>
              <a:rPr sz="1200" b="0">
                <a:solidFill>
                  <a:srgbClr val="57504A"/>
                </a:solidFill>
                <a:latin typeface="Google Sans Flex"/>
                <a:ea typeface="Google Sans Flex"/>
                <a:cs typeface="Google Sans Flex"/>
                <a:sym typeface="Google Sans Flex"/>
              </a:rPr>
              <a:t>•  Each check has a 15 second budget; a late stage returns "unknown".</a:t>
            </a:r>
          </a:p>
          <a:p>
            <a:pPr algn="l">
              <a:lnSpc>
                <a:spcPct val="112000"/>
              </a:lnSpc>
              <a:spcBef>
                <a:spcPts val="700"/>
              </a:spcBef>
            </a:pPr>
            <a:r>
              <a:rPr sz="1200" b="0">
                <a:solidFill>
                  <a:srgbClr val="57504A"/>
                </a:solidFill>
                <a:latin typeface="Google Sans Flex"/>
                <a:ea typeface="Google Sans Flex"/>
                <a:cs typeface="Google Sans Flex"/>
                <a:sym typeface="Google Sans Flex"/>
              </a:rPr>
              <a:t>•  The Firebase project serves the web demo with no billing account linked.</a:t>
            </a:r>
          </a:p>
          <a:p>
            <a:pPr algn="l">
              <a:lnSpc>
                <a:spcPct val="112000"/>
              </a:lnSpc>
              <a:spcBef>
                <a:spcPts val="700"/>
              </a:spcBef>
            </a:pPr>
            <a:r>
              <a:rPr sz="1200" b="0">
                <a:solidFill>
                  <a:srgbClr val="57504A"/>
                </a:solidFill>
                <a:latin typeface="Google Sans Flex"/>
                <a:ea typeface="Google Sans Flex"/>
                <a:cs typeface="Google Sans Flex"/>
                <a:sym typeface="Google Sans Flex"/>
              </a:rPr>
              <a:t>•  We have not measured a cost per check yet, so this deck gives no dollar figure.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ph-danger-en.png"/>
          <p:cNvPicPr>
            <a:picLocks noChangeAspect="1"/>
          </p:cNvPicPr>
          <p:nvPr/>
        </p:nvPicPr>
        <p:blipFill>
          <a:blip r:embed="rId5"/>
          <a:stretch>
            <a:fillRect/>
          </a:stretch>
        </p:blipFill>
        <p:spPr>
          <a:xfrm>
            <a:off x="338328" y="1078992"/>
            <a:ext cx="1491996" cy="3017520"/>
          </a:xfrm>
          <a:prstGeom prst="rect">
            <a:avLst/>
          </a:prstGeom>
        </p:spPr>
      </p:pic>
      <p:sp>
        <p:nvSpPr>
          <p:cNvPr id="137" name="TextBox 136"/>
          <p:cNvSpPr txBox="1"/>
          <p:nvPr/>
        </p:nvSpPr>
        <p:spPr>
          <a:xfrm>
            <a:off x="201168"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High risk report</a:t>
            </a:r>
          </a:p>
        </p:txBody>
      </p:sp>
      <p:pic>
        <p:nvPicPr>
          <p:cNvPr id="138" name="Picture 137" descr="ph-jobshield.png"/>
          <p:cNvPicPr>
            <a:picLocks noChangeAspect="1"/>
          </p:cNvPicPr>
          <p:nvPr/>
        </p:nvPicPr>
        <p:blipFill>
          <a:blip r:embed="rId6"/>
          <a:stretch>
            <a:fillRect/>
          </a:stretch>
        </p:blipFill>
        <p:spPr>
          <a:xfrm>
            <a:off x="2082164" y="1078992"/>
            <a:ext cx="1491996" cy="3017520"/>
          </a:xfrm>
          <a:prstGeom prst="rect">
            <a:avLst/>
          </a:prstGeom>
        </p:spPr>
      </p:pic>
      <p:sp>
        <p:nvSpPr>
          <p:cNvPr id="139" name="TextBox 138"/>
          <p:cNvSpPr txBox="1"/>
          <p:nvPr/>
        </p:nvSpPr>
        <p:spPr>
          <a:xfrm>
            <a:off x="1945005"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Job Shield: what doesn't match</a:t>
            </a:r>
          </a:p>
        </p:txBody>
      </p:sp>
      <p:pic>
        <p:nvPicPr>
          <p:cNvPr id="140" name="Picture 139" descr="ph-bubble.png"/>
          <p:cNvPicPr>
            <a:picLocks noChangeAspect="1"/>
          </p:cNvPicPr>
          <p:nvPr/>
        </p:nvPicPr>
        <p:blipFill>
          <a:blip r:embed="rId7"/>
          <a:stretch>
            <a:fillRect/>
          </a:stretch>
        </p:blipFill>
        <p:spPr>
          <a:xfrm>
            <a:off x="3826001" y="1078992"/>
            <a:ext cx="1491996" cy="3017520"/>
          </a:xfrm>
          <a:prstGeom prst="rect">
            <a:avLst/>
          </a:prstGeom>
        </p:spPr>
      </p:pic>
      <p:sp>
        <p:nvSpPr>
          <p:cNvPr id="141" name="TextBox 140"/>
          <p:cNvSpPr txBox="1"/>
          <p:nvPr/>
        </p:nvSpPr>
        <p:spPr>
          <a:xfrm>
            <a:off x="3688841"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Screen bubble (Android)</a:t>
            </a:r>
          </a:p>
        </p:txBody>
      </p:sp>
      <p:pic>
        <p:nvPicPr>
          <p:cNvPr id="142" name="Picture 141" descr="ph-danger-my.png"/>
          <p:cNvPicPr>
            <a:picLocks noChangeAspect="1"/>
          </p:cNvPicPr>
          <p:nvPr/>
        </p:nvPicPr>
        <p:blipFill>
          <a:blip r:embed="rId8"/>
          <a:stretch>
            <a:fillRect/>
          </a:stretch>
        </p:blipFill>
        <p:spPr>
          <a:xfrm>
            <a:off x="5569839" y="1078992"/>
            <a:ext cx="1491996" cy="3017520"/>
          </a:xfrm>
          <a:prstGeom prst="rect">
            <a:avLst/>
          </a:prstGeom>
        </p:spPr>
      </p:pic>
      <p:sp>
        <p:nvSpPr>
          <p:cNvPr id="143" name="TextBox 142"/>
          <p:cNvSpPr txBox="1"/>
          <p:nvPr/>
        </p:nvSpPr>
        <p:spPr>
          <a:xfrm>
            <a:off x="5432678"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Burmese report, voice button</a:t>
            </a:r>
          </a:p>
        </p:txBody>
      </p:sp>
      <p:pic>
        <p:nvPicPr>
          <p:cNvPr id="144" name="Picture 143" descr="ph-warn.png"/>
          <p:cNvPicPr>
            <a:picLocks noChangeAspect="1"/>
          </p:cNvPicPr>
          <p:nvPr/>
        </p:nvPicPr>
        <p:blipFill>
          <a:blip r:embed="rId9"/>
          <a:stretch>
            <a:fillRect/>
          </a:stretch>
        </p:blipFill>
        <p:spPr>
          <a:xfrm>
            <a:off x="7313676" y="1078992"/>
            <a:ext cx="1491996" cy="3017520"/>
          </a:xfrm>
          <a:prstGeom prst="rect">
            <a:avLst/>
          </a:prstGeom>
        </p:spPr>
      </p:pic>
      <p:sp>
        <p:nvSpPr>
          <p:cNvPr id="145" name="TextBox 144"/>
          <p:cNvSpPr txBox="1"/>
          <p:nvPr/>
        </p:nvSpPr>
        <p:spPr>
          <a:xfrm>
            <a:off x="7176515" y="4151376"/>
            <a:ext cx="1766316" cy="384048"/>
          </a:xfrm>
          <a:prstGeom prst="rect">
            <a:avLst/>
          </a:prstGeom>
          <a:noFill/>
        </p:spPr>
        <p:txBody>
          <a:bodyPr wrap="square" anchor="t" lIns="0" rIns="0" tIns="0" bIns="0"/>
          <a:lstStyle/>
          <a:p>
            <a:pPr algn="ctr">
              <a:lnSpc>
                <a:spcPct val="110000"/>
              </a:lnSpc>
            </a:pPr>
            <a:r>
              <a:rPr sz="1000" b="1">
                <a:solidFill>
                  <a:srgbClr val="1F1A17"/>
                </a:solidFill>
                <a:latin typeface="Google Sans Flex"/>
                <a:ea typeface="Google Sans Flex"/>
                <a:cs typeface="Google Sans Flex"/>
                <a:sym typeface="Google Sans Flex"/>
              </a:rPr>
              <a:t>Warn my family</a:t>
            </a:r>
          </a:p>
        </p:txBody>
      </p:sp>
      <p:sp>
        <p:nvSpPr>
          <p:cNvPr id="146" name="TextBox 145"/>
          <p:cNvSpPr txBox="1"/>
          <p:nvPr/>
        </p:nvSpPr>
        <p:spPr>
          <a:xfrm>
            <a:off x="338328" y="4681728"/>
            <a:ext cx="8467344" cy="274320"/>
          </a:xfrm>
          <a:prstGeom prst="rect">
            <a:avLst/>
          </a:prstGeom>
          <a:noFill/>
        </p:spPr>
        <p:txBody>
          <a:bodyPr wrap="square" anchor="t" lIns="0" rIns="0" tIns="0" bIns="0"/>
          <a:lstStyle/>
          <a:p>
            <a:pPr algn="l">
              <a:lnSpc>
                <a:spcPct val="110000"/>
              </a:lnSpc>
            </a:pPr>
            <a:r>
              <a:rPr sz="850" b="0">
                <a:solidFill>
                  <a:srgbClr val="6B635C"/>
                </a:solidFill>
                <a:latin typeface="Google Sans Flex"/>
                <a:ea typeface="Google Sans Flex"/>
                <a:cs typeface="Google Sans Flex"/>
                <a:sym typeface="Google Sans Flex"/>
              </a:rPr>
              <a:t>Web build captures with fictional inputs. Job Shield uses built-in demo data. The bubble shows Android overlay views on a drawn chat.</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338328" y="1115568"/>
            <a:ext cx="2724912" cy="1645920"/>
          </a:xfrm>
          <a:prstGeom prst="roundRect">
            <a:avLst>
              <a:gd name="adj" fmla="val 4444"/>
            </a:avLst>
          </a:prstGeom>
          <a:solidFill>
            <a:srgbClr val="1F1A17"/>
          </a:solidFill>
          <a:ln>
            <a:noFill/>
          </a:ln>
          <a:effectLst/>
        </p:spPr>
        <p:txBody>
          <a:bodyPr rtlCol="0" anchor="ctr"/>
          <a:lstStyle/>
          <a:p/>
        </p:txBody>
      </p:sp>
      <p:sp>
        <p:nvSpPr>
          <p:cNvPr id="145" name="TextBox 144"/>
          <p:cNvSpPr txBox="1"/>
          <p:nvPr/>
        </p:nvSpPr>
        <p:spPr>
          <a:xfrm>
            <a:off x="502920" y="1225295"/>
            <a:ext cx="2395728" cy="1463040"/>
          </a:xfrm>
          <a:prstGeom prst="rect">
            <a:avLst/>
          </a:prstGeom>
          <a:noFill/>
        </p:spPr>
        <p:txBody>
          <a:bodyPr wrap="square" anchor="t" lIns="0" rIns="0" tIns="0" bIns="0"/>
          <a:lstStyle/>
          <a:p>
            <a:pPr algn="l">
              <a:lnSpc>
                <a:spcPct val="100000"/>
              </a:lnSpc>
            </a:pPr>
            <a:r>
              <a:rPr sz="2800" b="1">
                <a:solidFill>
                  <a:srgbClr val="FFFFFF"/>
                </a:solidFill>
                <a:latin typeface="Google Sans Flex"/>
                <a:ea typeface="Google Sans Flex"/>
                <a:cs typeface="Google Sans Flex"/>
                <a:sym typeface="Google Sans Flex"/>
              </a:rPr>
              <a:t>31/31</a:t>
            </a:r>
          </a:p>
          <a:p>
            <a:pPr algn="l">
              <a:lnSpc>
                <a:spcPct val="110000"/>
              </a:lnSpc>
              <a:spcBef>
                <a:spcPts val="400"/>
              </a:spcBef>
            </a:pPr>
            <a:r>
              <a:rPr sz="1150" b="1">
                <a:solidFill>
                  <a:srgbClr val="FFFFFF"/>
                </a:solidFill>
                <a:latin typeface="Google Sans Flex"/>
                <a:ea typeface="Google Sans Flex"/>
                <a:cs typeface="Google Sans Flex"/>
                <a:sym typeface="Google Sans Flex"/>
              </a:rPr>
              <a:t>Text eval cases correct</a:t>
            </a:r>
          </a:p>
          <a:p>
            <a:pPr algn="l">
              <a:lnSpc>
                <a:spcPct val="110000"/>
              </a:lnSpc>
              <a:spcBef>
                <a:spcPts val="300"/>
              </a:spcBef>
            </a:pPr>
            <a:r>
              <a:rPr sz="950" b="0">
                <a:solidFill>
                  <a:srgbClr val="CFC5B9"/>
                </a:solidFill>
                <a:latin typeface="Google Sans Flex"/>
                <a:ea typeface="Google Sans Flex"/>
                <a:cs typeface="Google Sans Flex"/>
                <a:sym typeface="Google Sans Flex"/>
              </a:rPr>
              <a:t>0 responses with certainty wording after the guard. p50 2.8 s, p95 4.4 s.</a:t>
            </a:r>
          </a:p>
        </p:txBody>
      </p:sp>
      <p:sp>
        <p:nvSpPr>
          <p:cNvPr id="146" name="Rounded Rectangle 145"/>
          <p:cNvSpPr/>
          <p:nvPr/>
        </p:nvSpPr>
        <p:spPr>
          <a:xfrm>
            <a:off x="3209544" y="1115568"/>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47" name="TextBox 146"/>
          <p:cNvSpPr txBox="1"/>
          <p:nvPr/>
        </p:nvSpPr>
        <p:spPr>
          <a:xfrm>
            <a:off x="3374136" y="1225295"/>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89.7</a:t>
            </a:r>
          </a:p>
          <a:p>
            <a:pPr algn="l">
              <a:lnSpc>
                <a:spcPct val="110000"/>
              </a:lnSpc>
              <a:spcBef>
                <a:spcPts val="400"/>
              </a:spcBef>
            </a:pPr>
            <a:r>
              <a:rPr sz="1150" b="1">
                <a:solidFill>
                  <a:srgbClr val="1F1A17"/>
                </a:solidFill>
                <a:latin typeface="Google Sans Flex"/>
                <a:ea typeface="Google Sans Flex"/>
                <a:cs typeface="Google Sans Flex"/>
                <a:sym typeface="Google Sans Flex"/>
              </a:rPr>
              <a:t>Protection Score, 24 synthetic screenshots</a:t>
            </a:r>
          </a:p>
          <a:p>
            <a:pPr algn="l">
              <a:lnSpc>
                <a:spcPct val="110000"/>
              </a:lnSpc>
              <a:spcBef>
                <a:spcPts val="300"/>
              </a:spcBef>
            </a:pPr>
            <a:r>
              <a:rPr sz="950" b="0">
                <a:solidFill>
                  <a:srgbClr val="57504A"/>
                </a:solidFill>
                <a:latin typeface="Google Sans Flex"/>
                <a:ea typeface="Google Sans Flex"/>
                <a:cs typeface="Google Sans Flex"/>
                <a:sym typeface="Google Sans Flex"/>
              </a:rPr>
              <a:t>5 languages, 0 critical failures, 48/48 quotes found in the image.</a:t>
            </a:r>
          </a:p>
        </p:txBody>
      </p:sp>
      <p:sp>
        <p:nvSpPr>
          <p:cNvPr id="148" name="Rounded Rectangle 147"/>
          <p:cNvSpPr/>
          <p:nvPr/>
        </p:nvSpPr>
        <p:spPr>
          <a:xfrm>
            <a:off x="6080760" y="1115568"/>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49" name="TextBox 148"/>
          <p:cNvSpPr txBox="1"/>
          <p:nvPr/>
        </p:nvSpPr>
        <p:spPr>
          <a:xfrm>
            <a:off x="6245352" y="1225295"/>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about 67</a:t>
            </a:r>
          </a:p>
          <a:p>
            <a:pPr algn="l">
              <a:lnSpc>
                <a:spcPct val="110000"/>
              </a:lnSpc>
              <a:spcBef>
                <a:spcPts val="400"/>
              </a:spcBef>
            </a:pPr>
            <a:r>
              <a:rPr sz="1150" b="1">
                <a:solidFill>
                  <a:srgbClr val="1F1A17"/>
                </a:solidFill>
                <a:latin typeface="Google Sans Flex"/>
                <a:ea typeface="Google Sans Flex"/>
                <a:cs typeface="Google Sans Flex"/>
                <a:sym typeface="Google Sans Flex"/>
              </a:rPr>
              <a:t>Protection Score, 96 real screenshots</a:t>
            </a:r>
          </a:p>
          <a:p>
            <a:pPr algn="l">
              <a:lnSpc>
                <a:spcPct val="110000"/>
              </a:lnSpc>
              <a:spcBef>
                <a:spcPts val="300"/>
              </a:spcBef>
            </a:pPr>
            <a:r>
              <a:rPr sz="950" b="0">
                <a:solidFill>
                  <a:srgbClr val="57504A"/>
                </a:solidFill>
                <a:latin typeface="Google Sans Flex"/>
                <a:ea typeface="Google Sans Flex"/>
                <a:cs typeface="Google Sans Flex"/>
                <a:sym typeface="Google Sans Flex"/>
              </a:rPr>
              <a:t>Provisional. Draft labels from two models; no human review yet.</a:t>
            </a:r>
          </a:p>
        </p:txBody>
      </p:sp>
      <p:sp>
        <p:nvSpPr>
          <p:cNvPr id="150" name="Rounded Rectangle 149"/>
          <p:cNvSpPr/>
          <p:nvPr/>
        </p:nvSpPr>
        <p:spPr>
          <a:xfrm>
            <a:off x="338328" y="2907791"/>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51" name="TextBox 150"/>
          <p:cNvSpPr txBox="1"/>
          <p:nvPr/>
        </p:nvSpPr>
        <p:spPr>
          <a:xfrm>
            <a:off x="502920" y="3017520"/>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10/10</a:t>
            </a:r>
          </a:p>
          <a:p>
            <a:pPr algn="l">
              <a:lnSpc>
                <a:spcPct val="110000"/>
              </a:lnSpc>
              <a:spcBef>
                <a:spcPts val="400"/>
              </a:spcBef>
            </a:pPr>
            <a:r>
              <a:rPr sz="1150" b="1">
                <a:solidFill>
                  <a:srgbClr val="1F1A17"/>
                </a:solidFill>
                <a:latin typeface="Google Sans Flex"/>
                <a:ea typeface="Google Sans Flex"/>
                <a:cs typeface="Google Sans Flex"/>
                <a:sym typeface="Google Sans Flex"/>
              </a:rPr>
              <a:t>Job Shield ad and chat pairs</a:t>
            </a:r>
          </a:p>
          <a:p>
            <a:pPr algn="l">
              <a:lnSpc>
                <a:spcPct val="110000"/>
              </a:lnSpc>
              <a:spcBef>
                <a:spcPts val="300"/>
              </a:spcBef>
            </a:pPr>
            <a:r>
              <a:rPr sz="950" b="0">
                <a:solidFill>
                  <a:srgbClr val="57504A"/>
                </a:solidFill>
                <a:latin typeface="Google Sans Flex"/>
                <a:ea typeface="Google Sans Flex"/>
                <a:cs typeface="Google Sans Flex"/>
                <a:sym typeface="Google Sans Flex"/>
              </a:rPr>
              <a:t>No legit pair reached Pause. No scam pair stayed at the lowest tier.</a:t>
            </a:r>
          </a:p>
        </p:txBody>
      </p:sp>
      <p:sp>
        <p:nvSpPr>
          <p:cNvPr id="152" name="Rounded Rectangle 151"/>
          <p:cNvSpPr/>
          <p:nvPr/>
        </p:nvSpPr>
        <p:spPr>
          <a:xfrm>
            <a:off x="3209544" y="2907791"/>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53" name="TextBox 152"/>
          <p:cNvSpPr txBox="1"/>
          <p:nvPr/>
        </p:nvSpPr>
        <p:spPr>
          <a:xfrm>
            <a:off x="3374136" y="3017520"/>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93 + 28</a:t>
            </a:r>
          </a:p>
          <a:p>
            <a:pPr algn="l">
              <a:lnSpc>
                <a:spcPct val="110000"/>
              </a:lnSpc>
              <a:spcBef>
                <a:spcPts val="400"/>
              </a:spcBef>
            </a:pPr>
            <a:r>
              <a:rPr sz="1150" b="1">
                <a:solidFill>
                  <a:srgbClr val="1F1A17"/>
                </a:solidFill>
                <a:latin typeface="Google Sans Flex"/>
                <a:ea typeface="Google Sans Flex"/>
                <a:cs typeface="Google Sans Flex"/>
                <a:sym typeface="Google Sans Flex"/>
              </a:rPr>
              <a:t>Public dataset on Hugging Face</a:t>
            </a:r>
          </a:p>
          <a:p>
            <a:pPr algn="l">
              <a:lnSpc>
                <a:spcPct val="110000"/>
              </a:lnSpc>
              <a:spcBef>
                <a:spcPts val="300"/>
              </a:spcBef>
            </a:pPr>
            <a:r>
              <a:rPr sz="950" b="0">
                <a:solidFill>
                  <a:srgbClr val="57504A"/>
                </a:solidFill>
                <a:latin typeface="Google Sans Flex"/>
                <a:ea typeface="Google Sans Flex"/>
                <a:cs typeface="Google Sans Flex"/>
                <a:sym typeface="Google Sans Flex"/>
              </a:rPr>
              <a:t>Real redacted and synthetic screenshots with labels.</a:t>
            </a:r>
          </a:p>
        </p:txBody>
      </p:sp>
      <p:sp>
        <p:nvSpPr>
          <p:cNvPr id="154" name="Rounded Rectangle 153"/>
          <p:cNvSpPr/>
          <p:nvPr/>
        </p:nvSpPr>
        <p:spPr>
          <a:xfrm>
            <a:off x="6080760" y="2907791"/>
            <a:ext cx="2724912" cy="1645920"/>
          </a:xfrm>
          <a:prstGeom prst="roundRect">
            <a:avLst>
              <a:gd name="adj" fmla="val 4444"/>
            </a:avLst>
          </a:prstGeom>
          <a:solidFill>
            <a:srgbClr val="F7F3EE"/>
          </a:solidFill>
          <a:ln w="9525">
            <a:solidFill>
              <a:srgbClr val="E6DED3"/>
            </a:solidFill>
          </a:ln>
          <a:effectLst/>
        </p:spPr>
        <p:txBody>
          <a:bodyPr rtlCol="0" anchor="ctr"/>
          <a:lstStyle/>
          <a:p/>
        </p:txBody>
      </p:sp>
      <p:sp>
        <p:nvSpPr>
          <p:cNvPr id="155" name="TextBox 154"/>
          <p:cNvSpPr txBox="1"/>
          <p:nvPr/>
        </p:nvSpPr>
        <p:spPr>
          <a:xfrm>
            <a:off x="6245352" y="3017520"/>
            <a:ext cx="2395728" cy="1463040"/>
          </a:xfrm>
          <a:prstGeom prst="rect">
            <a:avLst/>
          </a:prstGeom>
          <a:noFill/>
        </p:spPr>
        <p:txBody>
          <a:bodyPr wrap="square" anchor="t" lIns="0" rIns="0" tIns="0" bIns="0"/>
          <a:lstStyle/>
          <a:p>
            <a:pPr algn="l">
              <a:lnSpc>
                <a:spcPct val="100000"/>
              </a:lnSpc>
            </a:pPr>
            <a:r>
              <a:rPr sz="2800" b="1">
                <a:solidFill>
                  <a:srgbClr val="1F1A17"/>
                </a:solidFill>
                <a:latin typeface="Google Sans Flex"/>
                <a:ea typeface="Google Sans Flex"/>
                <a:cs typeface="Google Sans Flex"/>
                <a:sym typeface="Google Sans Flex"/>
              </a:rPr>
              <a:t>98%</a:t>
            </a:r>
          </a:p>
          <a:p>
            <a:pPr algn="l">
              <a:lnSpc>
                <a:spcPct val="110000"/>
              </a:lnSpc>
              <a:spcBef>
                <a:spcPts val="400"/>
              </a:spcBef>
            </a:pPr>
            <a:r>
              <a:rPr sz="1150" b="1">
                <a:solidFill>
                  <a:srgbClr val="1F1A17"/>
                </a:solidFill>
                <a:latin typeface="Google Sans Flex"/>
                <a:ea typeface="Google Sans Flex"/>
                <a:cs typeface="Google Sans Flex"/>
                <a:sym typeface="Google Sans Flex"/>
              </a:rPr>
              <a:t>Verdict stability, 210 variants</a:t>
            </a:r>
          </a:p>
          <a:p>
            <a:pPr algn="l">
              <a:lnSpc>
                <a:spcPct val="110000"/>
              </a:lnSpc>
              <a:spcBef>
                <a:spcPts val="300"/>
              </a:spcBef>
            </a:pPr>
            <a:r>
              <a:rPr sz="950" b="0">
                <a:solidFill>
                  <a:srgbClr val="57504A"/>
                </a:solidFill>
                <a:latin typeface="Google Sans Flex"/>
                <a:ea typeface="Google Sans Flex"/>
                <a:cs typeface="Google Sans Flex"/>
                <a:sym typeface="Google Sans Flex"/>
              </a:rPr>
              <a:t>Low resolution, JPEG, crop, rotation, dark mode, overlays and prompt injection.</a:t>
            </a:r>
          </a:p>
        </p:txBody>
      </p:sp>
      <p:sp>
        <p:nvSpPr>
          <p:cNvPr id="156" name="TextBox 155"/>
          <p:cNvSpPr txBox="1"/>
          <p:nvPr/>
        </p:nvSpPr>
        <p:spPr>
          <a:xfrm>
            <a:off x="338328" y="4690872"/>
            <a:ext cx="8467344" cy="274320"/>
          </a:xfrm>
          <a:prstGeom prst="rect">
            <a:avLst/>
          </a:prstGeom>
          <a:noFill/>
        </p:spPr>
        <p:txBody>
          <a:bodyPr wrap="square" anchor="t" lIns="0" rIns="0" tIns="0" bIns="0"/>
          <a:lstStyle/>
          <a:p>
            <a:pPr algn="l">
              <a:lnSpc>
                <a:spcPct val="110000"/>
              </a:lnSpc>
            </a:pPr>
            <a:r>
              <a:rPr sz="850" b="0">
                <a:solidFill>
                  <a:srgbClr val="6B635C"/>
                </a:solidFill>
                <a:latin typeface="Google Sans Flex"/>
                <a:ea typeface="Google Sans Flex"/>
                <a:cs typeface="Google Sans Flex"/>
                <a:sym typeface="Google Sans Flex"/>
              </a:rPr>
              <a:t>gemini-3.5-flash-lite, production prompt, runs of 16 October 2026. A live link check also flags Google's Safe Browsing test phishing URL as High risk.</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TextBox 151"/>
          <p:cNvSpPr txBox="1"/>
          <p:nvPr/>
        </p:nvSpPr>
        <p:spPr>
          <a:xfrm>
            <a:off x="338328" y="1097280"/>
            <a:ext cx="4023360" cy="274320"/>
          </a:xfrm>
          <a:prstGeom prst="rect">
            <a:avLst/>
          </a:prstGeom>
          <a:noFill/>
        </p:spPr>
        <p:txBody>
          <a:bodyPr wrap="square" anchor="t" lIns="0" rIns="0" tIns="0" bIns="0"/>
          <a:lstStyle/>
          <a:p>
            <a:pPr algn="l">
              <a:lnSpc>
                <a:spcPct val="110000"/>
              </a:lnSpc>
            </a:pPr>
            <a:r>
              <a:rPr sz="1300" b="1">
                <a:solidFill>
                  <a:srgbClr val="1F1A17"/>
                </a:solidFill>
                <a:latin typeface="Google Sans Flex"/>
                <a:ea typeface="Google Sans Flex"/>
                <a:cs typeface="Google Sans Flex"/>
                <a:sym typeface="Google Sans Flex"/>
              </a:rPr>
              <a:t>Next</a:t>
            </a:r>
          </a:p>
        </p:txBody>
      </p:sp>
      <p:sp>
        <p:nvSpPr>
          <p:cNvPr id="153" name="Rounded Rectangle 152"/>
          <p:cNvSpPr/>
          <p:nvPr/>
        </p:nvSpPr>
        <p:spPr>
          <a:xfrm>
            <a:off x="338328" y="1481328"/>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54" name="Oval 153"/>
          <p:cNvSpPr/>
          <p:nvPr/>
        </p:nvSpPr>
        <p:spPr>
          <a:xfrm>
            <a:off x="448056" y="1581912"/>
            <a:ext cx="310896" cy="310896"/>
          </a:xfrm>
          <a:prstGeom prst="ellipse">
            <a:avLst/>
          </a:prstGeom>
          <a:solidFill>
            <a:srgbClr val="1F1A17"/>
          </a:solidFill>
          <a:ln>
            <a:noFill/>
          </a:ln>
          <a:effectLst/>
        </p:spPr>
        <p:txBody>
          <a:bodyPr rtlCol="0" anchor="ctr"/>
          <a:lstStyle/>
          <a:p/>
        </p:txBody>
      </p:sp>
      <p:sp>
        <p:nvSpPr>
          <p:cNvPr id="155" name="TextBox 154"/>
          <p:cNvSpPr txBox="1"/>
          <p:nvPr/>
        </p:nvSpPr>
        <p:spPr>
          <a:xfrm>
            <a:off x="448056" y="1581912"/>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1</a:t>
            </a:r>
          </a:p>
        </p:txBody>
      </p:sp>
      <p:sp>
        <p:nvSpPr>
          <p:cNvPr id="156" name="TextBox 155"/>
          <p:cNvSpPr txBox="1"/>
          <p:nvPr/>
        </p:nvSpPr>
        <p:spPr>
          <a:xfrm>
            <a:off x="886968" y="1517904"/>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Native review of every Burmese string</a:t>
            </a:r>
          </a:p>
        </p:txBody>
      </p:sp>
      <p:sp>
        <p:nvSpPr>
          <p:cNvPr id="157" name="Rounded Rectangle 156"/>
          <p:cNvSpPr/>
          <p:nvPr/>
        </p:nvSpPr>
        <p:spPr>
          <a:xfrm>
            <a:off x="338328" y="2103120"/>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58" name="Oval 157"/>
          <p:cNvSpPr/>
          <p:nvPr/>
        </p:nvSpPr>
        <p:spPr>
          <a:xfrm>
            <a:off x="448056" y="2203703"/>
            <a:ext cx="310896" cy="310896"/>
          </a:xfrm>
          <a:prstGeom prst="ellipse">
            <a:avLst/>
          </a:prstGeom>
          <a:solidFill>
            <a:srgbClr val="1F1A17"/>
          </a:solidFill>
          <a:ln>
            <a:noFill/>
          </a:ln>
          <a:effectLst/>
        </p:spPr>
        <p:txBody>
          <a:bodyPr rtlCol="0" anchor="ctr"/>
          <a:lstStyle/>
          <a:p/>
        </p:txBody>
      </p:sp>
      <p:sp>
        <p:nvSpPr>
          <p:cNvPr id="159" name="TextBox 158"/>
          <p:cNvSpPr txBox="1"/>
          <p:nvPr/>
        </p:nvSpPr>
        <p:spPr>
          <a:xfrm>
            <a:off x="448056" y="2203703"/>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2</a:t>
            </a:r>
          </a:p>
        </p:txBody>
      </p:sp>
      <p:sp>
        <p:nvSpPr>
          <p:cNvPr id="160" name="TextBox 159"/>
          <p:cNvSpPr txBox="1"/>
          <p:nvPr/>
        </p:nvSpPr>
        <p:spPr>
          <a:xfrm>
            <a:off x="886968" y="2139696"/>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Move the API to Cloud Run</a:t>
            </a:r>
          </a:p>
        </p:txBody>
      </p:sp>
      <p:sp>
        <p:nvSpPr>
          <p:cNvPr id="161" name="Rounded Rectangle 160"/>
          <p:cNvSpPr/>
          <p:nvPr/>
        </p:nvSpPr>
        <p:spPr>
          <a:xfrm>
            <a:off x="338328" y="2724912"/>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62" name="Oval 161"/>
          <p:cNvSpPr/>
          <p:nvPr/>
        </p:nvSpPr>
        <p:spPr>
          <a:xfrm>
            <a:off x="448056" y="2825496"/>
            <a:ext cx="310896" cy="310896"/>
          </a:xfrm>
          <a:prstGeom prst="ellipse">
            <a:avLst/>
          </a:prstGeom>
          <a:solidFill>
            <a:srgbClr val="1F1A17"/>
          </a:solidFill>
          <a:ln>
            <a:noFill/>
          </a:ln>
          <a:effectLst/>
        </p:spPr>
        <p:txBody>
          <a:bodyPr rtlCol="0" anchor="ctr"/>
          <a:lstStyle/>
          <a:p/>
        </p:txBody>
      </p:sp>
      <p:sp>
        <p:nvSpPr>
          <p:cNvPr id="163" name="TextBox 162"/>
          <p:cNvSpPr txBox="1"/>
          <p:nvPr/>
        </p:nvSpPr>
        <p:spPr>
          <a:xfrm>
            <a:off x="448056" y="2825496"/>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3</a:t>
            </a:r>
          </a:p>
        </p:txBody>
      </p:sp>
      <p:sp>
        <p:nvSpPr>
          <p:cNvPr id="164" name="TextBox 163"/>
          <p:cNvSpPr txBox="1"/>
          <p:nvPr/>
        </p:nvSpPr>
        <p:spPr>
          <a:xfrm>
            <a:off x="886968" y="2761488"/>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A simpler Check page and a big shield button on Home</a:t>
            </a:r>
          </a:p>
        </p:txBody>
      </p:sp>
      <p:sp>
        <p:nvSpPr>
          <p:cNvPr id="165" name="Rounded Rectangle 164"/>
          <p:cNvSpPr/>
          <p:nvPr/>
        </p:nvSpPr>
        <p:spPr>
          <a:xfrm>
            <a:off x="338328" y="3346704"/>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66" name="Oval 165"/>
          <p:cNvSpPr/>
          <p:nvPr/>
        </p:nvSpPr>
        <p:spPr>
          <a:xfrm>
            <a:off x="448056" y="3447288"/>
            <a:ext cx="310896" cy="310896"/>
          </a:xfrm>
          <a:prstGeom prst="ellipse">
            <a:avLst/>
          </a:prstGeom>
          <a:solidFill>
            <a:srgbClr val="1F1A17"/>
          </a:solidFill>
          <a:ln>
            <a:noFill/>
          </a:ln>
          <a:effectLst/>
        </p:spPr>
        <p:txBody>
          <a:bodyPr rtlCol="0" anchor="ctr"/>
          <a:lstStyle/>
          <a:p/>
        </p:txBody>
      </p:sp>
      <p:sp>
        <p:nvSpPr>
          <p:cNvPr id="167" name="TextBox 166"/>
          <p:cNvSpPr txBox="1"/>
          <p:nvPr/>
        </p:nvSpPr>
        <p:spPr>
          <a:xfrm>
            <a:off x="448056" y="3447288"/>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4</a:t>
            </a:r>
          </a:p>
        </p:txBody>
      </p:sp>
      <p:sp>
        <p:nvSpPr>
          <p:cNvPr id="168" name="TextBox 167"/>
          <p:cNvSpPr txBox="1"/>
          <p:nvPr/>
        </p:nvSpPr>
        <p:spPr>
          <a:xfrm>
            <a:off x="886968" y="3383280"/>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More languages for the region</a:t>
            </a:r>
          </a:p>
        </p:txBody>
      </p:sp>
      <p:sp>
        <p:nvSpPr>
          <p:cNvPr id="169" name="Rounded Rectangle 168"/>
          <p:cNvSpPr/>
          <p:nvPr/>
        </p:nvSpPr>
        <p:spPr>
          <a:xfrm>
            <a:off x="338328" y="3968496"/>
            <a:ext cx="4069080" cy="512064"/>
          </a:xfrm>
          <a:prstGeom prst="roundRect">
            <a:avLst>
              <a:gd name="adj" fmla="val 14285"/>
            </a:avLst>
          </a:prstGeom>
          <a:solidFill>
            <a:srgbClr val="F7F3EE"/>
          </a:solidFill>
          <a:ln w="9525">
            <a:solidFill>
              <a:srgbClr val="E6DED3"/>
            </a:solidFill>
          </a:ln>
          <a:effectLst/>
        </p:spPr>
        <p:txBody>
          <a:bodyPr rtlCol="0" anchor="ctr"/>
          <a:lstStyle/>
          <a:p/>
        </p:txBody>
      </p:sp>
      <p:sp>
        <p:nvSpPr>
          <p:cNvPr id="170" name="Oval 169"/>
          <p:cNvSpPr/>
          <p:nvPr/>
        </p:nvSpPr>
        <p:spPr>
          <a:xfrm>
            <a:off x="448056" y="4069080"/>
            <a:ext cx="310896" cy="310896"/>
          </a:xfrm>
          <a:prstGeom prst="ellipse">
            <a:avLst/>
          </a:prstGeom>
          <a:solidFill>
            <a:srgbClr val="1F1A17"/>
          </a:solidFill>
          <a:ln>
            <a:noFill/>
          </a:ln>
          <a:effectLst/>
        </p:spPr>
        <p:txBody>
          <a:bodyPr rtlCol="0" anchor="ctr"/>
          <a:lstStyle/>
          <a:p/>
        </p:txBody>
      </p:sp>
      <p:sp>
        <p:nvSpPr>
          <p:cNvPr id="171" name="TextBox 170"/>
          <p:cNvSpPr txBox="1"/>
          <p:nvPr/>
        </p:nvSpPr>
        <p:spPr>
          <a:xfrm>
            <a:off x="448056" y="4069080"/>
            <a:ext cx="310896" cy="310896"/>
          </a:xfrm>
          <a:prstGeom prst="rect">
            <a:avLst/>
          </a:prstGeom>
          <a:noFill/>
        </p:spPr>
        <p:txBody>
          <a:bodyPr wrap="square" anchor="ctr" lIns="0" rIns="0" tIns="0" bIns="0"/>
          <a:lstStyle/>
          <a:p>
            <a:pPr algn="ctr">
              <a:lnSpc>
                <a:spcPct val="110000"/>
              </a:lnSpc>
            </a:pPr>
            <a:r>
              <a:rPr sz="1000" b="1">
                <a:solidFill>
                  <a:srgbClr val="FFFFFF"/>
                </a:solidFill>
                <a:latin typeface="Google Sans Flex"/>
                <a:ea typeface="Google Sans Flex"/>
                <a:cs typeface="Google Sans Flex"/>
                <a:sym typeface="Google Sans Flex"/>
              </a:rPr>
              <a:t>5</a:t>
            </a:r>
          </a:p>
        </p:txBody>
      </p:sp>
      <p:sp>
        <p:nvSpPr>
          <p:cNvPr id="172" name="TextBox 171"/>
          <p:cNvSpPr txBox="1"/>
          <p:nvPr/>
        </p:nvSpPr>
        <p:spPr>
          <a:xfrm>
            <a:off x="886968" y="4005072"/>
            <a:ext cx="3429000" cy="438912"/>
          </a:xfrm>
          <a:prstGeom prst="rect">
            <a:avLst/>
          </a:prstGeom>
          <a:noFill/>
        </p:spPr>
        <p:txBody>
          <a:bodyPr wrap="square" anchor="ctr" lIns="0" rIns="0" tIns="0" bIns="0"/>
          <a:lstStyle/>
          <a:p>
            <a:pPr algn="l">
              <a:lnSpc>
                <a:spcPct val="110000"/>
              </a:lnSpc>
            </a:pPr>
            <a:r>
              <a:rPr sz="1150" b="1">
                <a:solidFill>
                  <a:srgbClr val="1F1A17"/>
                </a:solidFill>
                <a:latin typeface="Google Sans Flex"/>
                <a:ea typeface="Google Sans Flex"/>
                <a:cs typeface="Google Sans Flex"/>
                <a:sym typeface="Google Sans Flex"/>
              </a:rPr>
              <a:t>Pilots with migrant worker NGOs</a:t>
            </a:r>
          </a:p>
        </p:txBody>
      </p:sp>
      <p:sp>
        <p:nvSpPr>
          <p:cNvPr id="173" name="TextBox 172"/>
          <p:cNvSpPr txBox="1"/>
          <p:nvPr/>
        </p:nvSpPr>
        <p:spPr>
          <a:xfrm>
            <a:off x="4681728" y="1097280"/>
            <a:ext cx="4023360" cy="274320"/>
          </a:xfrm>
          <a:prstGeom prst="rect">
            <a:avLst/>
          </a:prstGeom>
          <a:noFill/>
        </p:spPr>
        <p:txBody>
          <a:bodyPr wrap="square" anchor="t" lIns="0" rIns="0" tIns="0" bIns="0"/>
          <a:lstStyle/>
          <a:p>
            <a:pPr algn="l">
              <a:lnSpc>
                <a:spcPct val="110000"/>
              </a:lnSpc>
            </a:pPr>
            <a:r>
              <a:rPr sz="1300" b="1">
                <a:solidFill>
                  <a:srgbClr val="1F1A17"/>
                </a:solidFill>
                <a:latin typeface="Google Sans Flex"/>
                <a:ea typeface="Google Sans Flex"/>
                <a:cs typeface="Google Sans Flex"/>
                <a:sym typeface="Google Sans Flex"/>
              </a:rPr>
              <a:t>Known limits today</a:t>
            </a:r>
          </a:p>
        </p:txBody>
      </p:sp>
      <p:sp>
        <p:nvSpPr>
          <p:cNvPr id="174" name="Rounded Rectangle 173"/>
          <p:cNvSpPr/>
          <p:nvPr/>
        </p:nvSpPr>
        <p:spPr>
          <a:xfrm>
            <a:off x="4681728" y="1481328"/>
            <a:ext cx="4114800" cy="2999232"/>
          </a:xfrm>
          <a:prstGeom prst="roundRect">
            <a:avLst>
              <a:gd name="adj" fmla="val 2439"/>
            </a:avLst>
          </a:prstGeom>
          <a:solidFill>
            <a:srgbClr val="F7F3EE"/>
          </a:solidFill>
          <a:ln w="9525">
            <a:solidFill>
              <a:srgbClr val="E6DED3"/>
            </a:solidFill>
          </a:ln>
          <a:effectLst/>
        </p:spPr>
        <p:txBody>
          <a:bodyPr rtlCol="0" anchor="ctr"/>
          <a:lstStyle/>
          <a:p/>
        </p:txBody>
      </p:sp>
      <p:sp>
        <p:nvSpPr>
          <p:cNvPr id="175" name="TextBox 174"/>
          <p:cNvSpPr txBox="1"/>
          <p:nvPr/>
        </p:nvSpPr>
        <p:spPr>
          <a:xfrm>
            <a:off x="4846320" y="1600200"/>
            <a:ext cx="3794760" cy="2788920"/>
          </a:xfrm>
          <a:prstGeom prst="rect">
            <a:avLst/>
          </a:prstGeom>
          <a:noFill/>
        </p:spPr>
        <p:txBody>
          <a:bodyPr wrap="square" anchor="t" lIns="0" rIns="0" tIns="0" bIns="0"/>
          <a:lstStyle/>
          <a:p>
            <a:pPr algn="l">
              <a:lnSpc>
                <a:spcPct val="115000"/>
              </a:lnSpc>
            </a:pPr>
            <a:r>
              <a:rPr sz="1150" b="0">
                <a:solidFill>
                  <a:srgbClr val="57504A"/>
                </a:solidFill>
                <a:latin typeface="Google Sans Flex"/>
                <a:ea typeface="Google Sans Flex"/>
                <a:cs typeface="Google Sans Flex"/>
                <a:sym typeface="Google Sans Flex"/>
              </a:rPr>
              <a:t>•  Burmese app strings are machine translated and not yet reviewed by a native speaker.</a:t>
            </a:r>
          </a:p>
          <a:p>
            <a:pPr algn="l">
              <a:lnSpc>
                <a:spcPct val="115000"/>
              </a:lnSpc>
              <a:spcBef>
                <a:spcPts val="1000"/>
              </a:spcBef>
            </a:pPr>
            <a:r>
              <a:rPr sz="1150" b="0">
                <a:solidFill>
                  <a:srgbClr val="57504A"/>
                </a:solidFill>
                <a:latin typeface="Google Sans Flex"/>
                <a:ea typeface="Google Sans Flex"/>
                <a:cs typeface="Google Sans Flex"/>
                <a:sym typeface="Google Sans Flex"/>
              </a:rPr>
              <a:t>•  Real-screenshot labels are drafts from two models, so that score is provisional.</a:t>
            </a:r>
          </a:p>
          <a:p>
            <a:pPr algn="l">
              <a:lnSpc>
                <a:spcPct val="115000"/>
              </a:lnSpc>
              <a:spcBef>
                <a:spcPts val="1000"/>
              </a:spcBef>
            </a:pPr>
            <a:r>
              <a:rPr sz="1150" b="0">
                <a:solidFill>
                  <a:srgbClr val="57504A"/>
                </a:solidFill>
                <a:latin typeface="Google Sans Flex"/>
                <a:ea typeface="Google Sans Flex"/>
                <a:cs typeface="Google Sans Flex"/>
                <a:sym typeface="Google Sans Flex"/>
              </a:rPr>
              <a:t>•  The API runs on our host behind a Cloudflare tunnel until Cloud Run billing is on.</a:t>
            </a:r>
          </a:p>
          <a:p>
            <a:pPr algn="l">
              <a:lnSpc>
                <a:spcPct val="115000"/>
              </a:lnSpc>
              <a:spcBef>
                <a:spcPts val="1000"/>
              </a:spcBef>
            </a:pPr>
            <a:r>
              <a:rPr sz="1150" b="0">
                <a:solidFill>
                  <a:srgbClr val="57504A"/>
                </a:solidFill>
                <a:latin typeface="Google Sans Flex"/>
                <a:ea typeface="Google Sans Flex"/>
                <a:cs typeface="Google Sans Flex"/>
                <a:sym typeface="Google Sans Flex"/>
              </a:rPr>
              <a:t>•  The web demo has no screen bubble or Message Guard; both need Android.</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lang="en-GB">
                <a:latin typeface="Google Sans Flex Medium"/>
                <a:ea typeface="Google Sans Flex Medium"/>
                <a:cs typeface="Google Sans Flex Medium"/>
                <a:sym typeface="Google Sans Flex Medium"/>
              </a:rPr>
              <a:t>: </a:t>
            </a:r>
            <a:r>
              <a:rPr lang="en-GB">
                <a:latin typeface="Google Sans Flex Medium"/>
                <a:ea typeface="Google Sans Flex Medium"/>
                <a:cs typeface="Google Sans Flex Medium"/>
                <a:sym typeface="Google Sans Flex Medium"/>
                <a:hlinkClick r:id="rId5"/>
              </a:rPr>
              <a:t>https://github.com/minthein128/scamshield</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lang="en-GB">
                <a:latin typeface="Google Sans Flex Medium"/>
                <a:ea typeface="Google Sans Flex Medium"/>
                <a:cs typeface="Google Sans Flex Medium"/>
                <a:sym typeface="Google Sans Flex Medium"/>
              </a:rPr>
              <a:t>: web demo </a:t>
            </a:r>
            <a:r>
              <a:rPr lang="en-GB">
                <a:latin typeface="Google Sans Flex Medium"/>
                <a:ea typeface="Google Sans Flex Medium"/>
                <a:cs typeface="Google Sans Flex Medium"/>
                <a:sym typeface="Google Sans Flex Medium"/>
                <a:hlinkClick r:id="rId6"/>
              </a:rPr>
              <a:t>https://saferoute-aibc.web.app</a:t>
            </a:r>
            <a:r>
              <a:rPr lang="en-GB">
                <a:latin typeface="Google Sans Flex Medium"/>
                <a:ea typeface="Google Sans Flex Medium"/>
                <a:cs typeface="Google Sans Flex Medium"/>
                <a:sym typeface="Google Sans Flex Medium"/>
                <a:hlinkClick r:id="rId6"/>
              </a:rPr>
              <a:t>, Android APK </a:t>
            </a:r>
            <a:r>
              <a:rPr lang="en-GB">
                <a:latin typeface="Google Sans Flex Medium"/>
                <a:ea typeface="Google Sans Flex Medium"/>
                <a:cs typeface="Google Sans Flex Medium"/>
                <a:sym typeface="Google Sans Flex Medium"/>
                <a:hlinkClick r:id="rId7"/>
              </a:rPr>
              <a:t>https://saferoute-api.akkhayar.com/download</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38328" y="2331720"/>
            <a:ext cx="8467344" cy="1325880"/>
          </a:xfrm>
          <a:prstGeom prst="roundRect">
            <a:avLst>
              <a:gd name="adj" fmla="val 5517"/>
            </a:avLst>
          </a:prstGeom>
          <a:solidFill>
            <a:srgbClr val="F7F3EE"/>
          </a:solidFill>
          <a:ln w="9525">
            <a:solidFill>
              <a:srgbClr val="E6DED3"/>
            </a:solidFill>
          </a:ln>
          <a:effectLst/>
        </p:spPr>
        <p:txBody>
          <a:bodyPr rtlCol="0" anchor="ctr"/>
          <a:lstStyle/>
          <a:p/>
        </p:txBody>
      </p:sp>
      <p:sp>
        <p:nvSpPr>
          <p:cNvPr id="161" name="TextBox 160"/>
          <p:cNvSpPr txBox="1"/>
          <p:nvPr/>
        </p:nvSpPr>
        <p:spPr>
          <a:xfrm>
            <a:off x="521208" y="2459736"/>
            <a:ext cx="8138160" cy="118872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Public dataset: </a:t>
            </a:r>
            <a:r>
              <a:rPr sz="1200" b="0">
                <a:solidFill>
                  <a:srgbClr val="57504A"/>
                </a:solidFill>
                <a:latin typeface="Google Sans Flex"/>
                <a:ea typeface="Google Sans Flex"/>
                <a:cs typeface="Google Sans Flex"/>
                <a:sym typeface="Google Sans Flex"/>
                <a:hlinkClick r:id="rId8"/>
              </a:rPr>
              <a:t>https://huggingface.co/datasets/Rickaym/saferoute-scam-screenshots</a:t>
            </a:r>
          </a:p>
          <a:p>
            <a:pPr algn="l">
              <a:lnSpc>
                <a:spcPct val="110000"/>
              </a:lnSpc>
              <a:spcBef>
                <a:spcPts val="800"/>
              </a:spcBef>
            </a:pPr>
            <a:r>
              <a:rPr sz="1200" b="1">
                <a:solidFill>
                  <a:srgbClr val="1F1A17"/>
                </a:solidFill>
                <a:latin typeface="Google Sans Flex"/>
                <a:ea typeface="Google Sans Flex"/>
                <a:cs typeface="Google Sans Flex"/>
                <a:sym typeface="Google Sans Flex"/>
              </a:rPr>
              <a:t>Team: </a:t>
            </a:r>
            <a:r>
              <a:rPr sz="1200" b="0">
                <a:solidFill>
                  <a:srgbClr val="57504A"/>
                </a:solidFill>
                <a:latin typeface="Google Sans Flex"/>
                <a:ea typeface="Google Sans Flex"/>
                <a:cs typeface="Google Sans Flex"/>
                <a:sym typeface="Google Sans Flex"/>
              </a:rPr>
              <a:t>Ricky (team leader), Min Thein Kyaw</a:t>
            </a:r>
          </a:p>
          <a:p>
            <a:pPr algn="l">
              <a:lnSpc>
                <a:spcPct val="110000"/>
              </a:lnSpc>
              <a:spcBef>
                <a:spcPts val="800"/>
              </a:spcBef>
            </a:pPr>
            <a:r>
              <a:rPr sz="1200" b="1">
                <a:solidFill>
                  <a:srgbClr val="1F1A17"/>
                </a:solidFill>
                <a:latin typeface="Google Sans Flex"/>
                <a:ea typeface="Google Sans Flex"/>
                <a:cs typeface="Google Sans Flex"/>
                <a:sym typeface="Google Sans Flex"/>
              </a:rPr>
              <a:t>Contact: </a:t>
            </a:r>
            <a:r>
              <a:rPr sz="1200" b="0">
                <a:solidFill>
                  <a:srgbClr val="57504A"/>
                </a:solidFill>
                <a:latin typeface="Google Sans Flex"/>
                <a:ea typeface="Google Sans Flex"/>
                <a:cs typeface="Google Sans Flex"/>
                <a:sym typeface="Google Sans Flex"/>
                <a:hlinkClick r:id="rId9"/>
              </a:rPr>
              <a:t>support@akkhayar.com</a:t>
            </a:r>
          </a:p>
        </p:txBody>
      </p:sp>
      <p:pic>
        <p:nvPicPr>
          <p:cNvPr id="162" name="Picture 161" descr="medallion.png"/>
          <p:cNvPicPr>
            <a:picLocks noChangeAspect="1"/>
          </p:cNvPicPr>
          <p:nvPr/>
        </p:nvPicPr>
        <p:blipFill>
          <a:blip r:embed="rId10"/>
          <a:stretch>
            <a:fillRect/>
          </a:stretch>
        </p:blipFill>
        <p:spPr>
          <a:xfrm>
            <a:off x="7680960" y="2560320"/>
            <a:ext cx="868680" cy="8686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Safety and privacy</a:t>
            </a:r>
            <a:endParaRPr sz="1600">
              <a:latin typeface="Google Sans Flex Medium"/>
              <a:ea typeface="Google Sans Flex Medium"/>
              <a:cs typeface="Google Sans Flex Medium"/>
              <a:sym typeface="Google Sans Flex Medium"/>
            </a:endParaRPr>
          </a:p>
        </p:txBody>
      </p:sp>
      <p:sp>
        <p:nvSpPr>
          <p:cNvPr id="167" name="Rounded Rectangle 166"/>
          <p:cNvSpPr/>
          <p:nvPr/>
        </p:nvSpPr>
        <p:spPr>
          <a:xfrm>
            <a:off x="338328" y="1115568"/>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68" name="TextBox 167"/>
          <p:cNvSpPr txBox="1"/>
          <p:nvPr/>
        </p:nvSpPr>
        <p:spPr>
          <a:xfrm>
            <a:off x="466344" y="1225295"/>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Likelihood words</a:t>
            </a:r>
          </a:p>
          <a:p>
            <a:pPr algn="l">
              <a:lnSpc>
                <a:spcPct val="110000"/>
              </a:lnSpc>
              <a:spcBef>
                <a:spcPts val="400"/>
              </a:spcBef>
            </a:pPr>
            <a:r>
              <a:rPr sz="1000" b="0">
                <a:solidFill>
                  <a:srgbClr val="57504A"/>
                </a:solidFill>
                <a:latin typeface="Google Sans Flex"/>
                <a:ea typeface="Google Sans Flex"/>
                <a:cs typeface="Google Sans Flex"/>
                <a:sym typeface="Google Sans Flex"/>
              </a:rPr>
              <a:t>"Shows signs of", never "is a scam". A guard rewrites certainty phrases in all five languages.</a:t>
            </a:r>
          </a:p>
        </p:txBody>
      </p:sp>
      <p:sp>
        <p:nvSpPr>
          <p:cNvPr id="169" name="Rounded Rectangle 168"/>
          <p:cNvSpPr/>
          <p:nvPr/>
        </p:nvSpPr>
        <p:spPr>
          <a:xfrm>
            <a:off x="3355848" y="1115568"/>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0" name="TextBox 169"/>
          <p:cNvSpPr txBox="1"/>
          <p:nvPr/>
        </p:nvSpPr>
        <p:spPr>
          <a:xfrm>
            <a:off x="3483864" y="1225295"/>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No accusations</a:t>
            </a:r>
          </a:p>
          <a:p>
            <a:pPr algn="l">
              <a:lnSpc>
                <a:spcPct val="110000"/>
              </a:lnSpc>
              <a:spcBef>
                <a:spcPts val="400"/>
              </a:spcBef>
            </a:pPr>
            <a:r>
              <a:rPr sz="1000" b="0">
                <a:solidFill>
                  <a:srgbClr val="57504A"/>
                </a:solidFill>
                <a:latin typeface="Google Sans Flex"/>
                <a:ea typeface="Google Sans Flex"/>
                <a:cs typeface="Google Sans Flex"/>
                <a:sym typeface="Google Sans Flex"/>
              </a:rPr>
              <a:t>No named person, company, number or handle is called a criminal.</a:t>
            </a:r>
          </a:p>
        </p:txBody>
      </p:sp>
      <p:sp>
        <p:nvSpPr>
          <p:cNvPr id="171" name="Rounded Rectangle 170"/>
          <p:cNvSpPr/>
          <p:nvPr/>
        </p:nvSpPr>
        <p:spPr>
          <a:xfrm>
            <a:off x="338328" y="2331720"/>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2" name="TextBox 171"/>
          <p:cNvSpPr txBox="1"/>
          <p:nvPr/>
        </p:nvSpPr>
        <p:spPr>
          <a:xfrm>
            <a:off x="466344" y="2441448"/>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Consent first</a:t>
            </a:r>
          </a:p>
          <a:p>
            <a:pPr algn="l">
              <a:lnSpc>
                <a:spcPct val="110000"/>
              </a:lnSpc>
              <a:spcBef>
                <a:spcPts val="400"/>
              </a:spcBef>
            </a:pPr>
            <a:r>
              <a:rPr sz="1000" b="0">
                <a:solidFill>
                  <a:srgbClr val="57504A"/>
                </a:solidFill>
                <a:latin typeface="Google Sans Flex"/>
                <a:ea typeface="Google Sans Flex"/>
                <a:cs typeface="Google Sans Flex"/>
                <a:sym typeface="Google Sans Flex"/>
              </a:rPr>
              <a:t>Signal sharing and Message Guard stay off until the user turns them on.</a:t>
            </a:r>
          </a:p>
        </p:txBody>
      </p:sp>
      <p:sp>
        <p:nvSpPr>
          <p:cNvPr id="173" name="Rounded Rectangle 172"/>
          <p:cNvSpPr/>
          <p:nvPr/>
        </p:nvSpPr>
        <p:spPr>
          <a:xfrm>
            <a:off x="3355848" y="2331720"/>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4" name="TextBox 173"/>
          <p:cNvSpPr txBox="1"/>
          <p:nvPr/>
        </p:nvSpPr>
        <p:spPr>
          <a:xfrm>
            <a:off x="3483864" y="2441448"/>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Hashed indicators</a:t>
            </a:r>
          </a:p>
          <a:p>
            <a:pPr algn="l">
              <a:lnSpc>
                <a:spcPct val="110000"/>
              </a:lnSpc>
              <a:spcBef>
                <a:spcPts val="400"/>
              </a:spcBef>
            </a:pPr>
            <a:r>
              <a:rPr sz="1000" b="0">
                <a:solidFill>
                  <a:srgbClr val="57504A"/>
                </a:solidFill>
                <a:latin typeface="Google Sans Flex"/>
                <a:ea typeface="Google Sans Flex"/>
                <a:cs typeface="Google Sans Flex"/>
                <a:sym typeface="Google Sans Flex"/>
              </a:rPr>
              <a:t>Phone numbers and handles are kept as one-way hashes; signals expire after 90 days.</a:t>
            </a:r>
          </a:p>
        </p:txBody>
      </p:sp>
      <p:sp>
        <p:nvSpPr>
          <p:cNvPr id="175" name="Rounded Rectangle 174"/>
          <p:cNvSpPr/>
          <p:nvPr/>
        </p:nvSpPr>
        <p:spPr>
          <a:xfrm>
            <a:off x="338328" y="3547872"/>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6" name="TextBox 175"/>
          <p:cNvSpPr txBox="1"/>
          <p:nvPr/>
        </p:nvSpPr>
        <p:spPr>
          <a:xfrm>
            <a:off x="466344" y="3657600"/>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Leave quickly</a:t>
            </a:r>
          </a:p>
          <a:p>
            <a:pPr algn="l">
              <a:lnSpc>
                <a:spcPct val="110000"/>
              </a:lnSpc>
              <a:spcBef>
                <a:spcPts val="400"/>
              </a:spcBef>
            </a:pPr>
            <a:r>
              <a:rPr sz="1000" b="0">
                <a:solidFill>
                  <a:srgbClr val="57504A"/>
                </a:solidFill>
                <a:latin typeface="Google Sans Flex"/>
                <a:ea typeface="Google Sans Flex"/>
                <a:cs typeface="Google Sans Flex"/>
                <a:sym typeface="Google Sans Flex"/>
              </a:rPr>
              <a:t>One button on every report clears the screen back to Home and stops audio.</a:t>
            </a:r>
          </a:p>
        </p:txBody>
      </p:sp>
      <p:sp>
        <p:nvSpPr>
          <p:cNvPr id="177" name="Rounded Rectangle 176"/>
          <p:cNvSpPr/>
          <p:nvPr/>
        </p:nvSpPr>
        <p:spPr>
          <a:xfrm>
            <a:off x="3355848" y="3547872"/>
            <a:ext cx="2880360" cy="1097280"/>
          </a:xfrm>
          <a:prstGeom prst="roundRect">
            <a:avLst>
              <a:gd name="adj" fmla="val 6666"/>
            </a:avLst>
          </a:prstGeom>
          <a:solidFill>
            <a:srgbClr val="F7F3EE"/>
          </a:solidFill>
          <a:ln w="9525">
            <a:solidFill>
              <a:srgbClr val="E6DED3"/>
            </a:solidFill>
          </a:ln>
          <a:effectLst/>
        </p:spPr>
        <p:txBody>
          <a:bodyPr rtlCol="0" anchor="ctr"/>
          <a:lstStyle/>
          <a:p/>
        </p:txBody>
      </p:sp>
      <p:sp>
        <p:nvSpPr>
          <p:cNvPr id="178" name="TextBox 177"/>
          <p:cNvSpPr txBox="1"/>
          <p:nvPr/>
        </p:nvSpPr>
        <p:spPr>
          <a:xfrm>
            <a:off x="3483864" y="3657600"/>
            <a:ext cx="2624328" cy="914400"/>
          </a:xfrm>
          <a:prstGeom prst="rect">
            <a:avLst/>
          </a:prstGeom>
          <a:noFill/>
        </p:spPr>
        <p:txBody>
          <a:bodyPr wrap="square" anchor="t" lIns="0" rIns="0" tIns="0" bIns="0"/>
          <a:lstStyle/>
          <a:p>
            <a:pPr algn="l">
              <a:lnSpc>
                <a:spcPct val="110000"/>
              </a:lnSpc>
            </a:pPr>
            <a:r>
              <a:rPr sz="1200" b="1">
                <a:solidFill>
                  <a:srgbClr val="1F1A17"/>
                </a:solidFill>
                <a:latin typeface="Google Sans Flex"/>
                <a:ea typeface="Google Sans Flex"/>
                <a:cs typeface="Google Sans Flex"/>
                <a:sym typeface="Google Sans Flex"/>
              </a:rPr>
              <a:t>Slim sync, 18+</a:t>
            </a:r>
          </a:p>
          <a:p>
            <a:pPr algn="l">
              <a:lnSpc>
                <a:spcPct val="110000"/>
              </a:lnSpc>
              <a:spcBef>
                <a:spcPts val="400"/>
              </a:spcBef>
            </a:pPr>
            <a:r>
              <a:rPr sz="1000" b="0">
                <a:solidFill>
                  <a:srgbClr val="57504A"/>
                </a:solidFill>
                <a:latin typeface="Google Sans Flex"/>
                <a:ea typeface="Google Sans Flex"/>
                <a:cs typeface="Google Sans Flex"/>
                <a:sym typeface="Google Sans Flex"/>
              </a:rPr>
              <a:t>History keeps the verdict, a score band, the title and the summary, and can be turned off.</a:t>
            </a:r>
          </a:p>
        </p:txBody>
      </p:sp>
      <p:sp>
        <p:nvSpPr>
          <p:cNvPr id="179" name="TextBox 178"/>
          <p:cNvSpPr txBox="1"/>
          <p:nvPr/>
        </p:nvSpPr>
        <p:spPr>
          <a:xfrm>
            <a:off x="338328" y="4764024"/>
            <a:ext cx="5897880" cy="274320"/>
          </a:xfrm>
          <a:prstGeom prst="rect">
            <a:avLst/>
          </a:prstGeom>
          <a:noFill/>
        </p:spPr>
        <p:txBody>
          <a:bodyPr wrap="square" anchor="t" lIns="0" rIns="0" tIns="0" bIns="0"/>
          <a:lstStyle/>
          <a:p>
            <a:pPr algn="l">
              <a:lnSpc>
                <a:spcPct val="110000"/>
              </a:lnSpc>
            </a:pPr>
            <a:r>
              <a:rPr sz="1000" b="0">
                <a:solidFill>
                  <a:srgbClr val="57504A"/>
                </a:solidFill>
                <a:latin typeface="Google Sans Flex"/>
                <a:ea typeface="Google Sans Flex"/>
                <a:cs typeface="Google Sans Flex"/>
                <a:sym typeface="Google Sans Flex"/>
              </a:rPr>
              <a:t>Images and message text are not stored or logged. Personal details are redacted before a signal is kept.</a:t>
            </a:r>
          </a:p>
        </p:txBody>
      </p:sp>
      <p:pic>
        <p:nvPicPr>
          <p:cNvPr id="180" name="Picture 179" descr="ph-privacy.png"/>
          <p:cNvPicPr>
            <a:picLocks noChangeAspect="1"/>
          </p:cNvPicPr>
          <p:nvPr/>
        </p:nvPicPr>
        <p:blipFill>
          <a:blip r:embed="rId5"/>
          <a:stretch>
            <a:fillRect/>
          </a:stretch>
        </p:blipFill>
        <p:spPr>
          <a:xfrm>
            <a:off x="6537960" y="1078992"/>
            <a:ext cx="1945337" cy="363931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