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hyperlink" Target="https://github.com/minthein128/scamshield" TargetMode="External"/><Relationship Id="rId6" Type="http://schemas.openxmlformats.org/officeDocument/2006/relationships/hyperlink" Target="https://saferoute-aibc.web.app" TargetMode="External"/><Relationship Id="rId7" Type="http://schemas.openxmlformats.org/officeDocument/2006/relationships/hyperlink" Target="https://saferoute-aibc.web.app/saferoute.apk" TargetMode="External"/><Relationship Id="rId8" Type="http://schemas.openxmlformats.org/officeDocument/2006/relationships/hyperlink" Target="https://huggingface.co/datasets/Rickaym/saferoute-scam-screenshots" TargetMode="External"/><Relationship Id="rId9" Type="http://schemas.openxmlformats.org/officeDocument/2006/relationships/hyperlink" Target="mailto:support@akkhayar.com" TargetMode="External"/><Relationship Id="rId10"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743200"/>
            <a:ext cx="73152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lang="en-GB" sz="1800">
                <a:latin typeface="Google Sans Flex"/>
                <a:ea typeface="Google Sans Flex"/>
                <a:cs typeface="Google Sans Flex"/>
                <a:sym typeface="Google Sans Flex"/>
              </a:rPr>
              <a:t>Super Power Rangers</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lang="en-GB" sz="1800">
                <a:latin typeface="Google Sans Flex"/>
                <a:ea typeface="Google Sans Flex"/>
                <a:cs typeface="Google Sans Flex"/>
                <a:sym typeface="Google Sans Flex"/>
              </a:rPr>
              <a:t>Pyae Sone Myo (Ricky)</a:t>
            </a:r>
            <a:r>
              <a:rPr lang="en-GB" sz="1200">
                <a:latin typeface="Google Sans Flex"/>
                <a:ea typeface="Google Sans Flex"/>
                <a:cs typeface="Google Sans Flex"/>
                <a:sym typeface="Google Sans Flex"/>
              </a:rPr>
              <a:t>   Members: Min Thein Kyaw, May Myat Noe Aung</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lang="en-GB" sz="1200">
                <a:latin typeface="Google Sans Flex"/>
                <a:ea typeface="Google Sans Flex"/>
                <a:cs typeface="Google Sans Flex"/>
                <a:sym typeface="Google Sans Flex"/>
              </a:rPr>
              <a:t>Recruitment ads on Facebook, Viber and Telegram lure young job seekers from Myanmar and the region into forced online scam work; OHCHR says at least 120,000 people in Myanmar may be held in it. Kakwe helps them see the warning signs, in their own language, before they pay, send documents or travel.</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pic>
        <p:nvPicPr>
          <p:cNvPr id="57" name="Picture 56" descr="medallion.png"/>
          <p:cNvPicPr>
            <a:picLocks noChangeAspect="1"/>
          </p:cNvPicPr>
          <p:nvPr/>
        </p:nvPicPr>
        <p:blipFill>
          <a:blip r:embed="rId5"/>
          <a:stretch>
            <a:fillRect/>
          </a:stretch>
        </p:blipFill>
        <p:spPr>
          <a:xfrm>
            <a:off x="7818120" y="2880360"/>
            <a:ext cx="960120" cy="9601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38328" y="1188720"/>
            <a:ext cx="4572000" cy="3566160"/>
          </a:xfrm>
          <a:prstGeom prst="rect">
            <a:avLst/>
          </a:prstGeom>
          <a:noFill/>
        </p:spPr>
        <p:txBody>
          <a:bodyPr wrap="square" anchor="t" lIns="0" rIns="0" tIns="0" bIns="0"/>
          <a:lstStyle/>
          <a:p>
            <a:pPr algn="l">
              <a:lnSpc>
                <a:spcPct val="115000"/>
              </a:lnSpc>
            </a:pPr>
            <a:r>
              <a:rPr sz="1500" b="1">
                <a:solidFill>
                  <a:srgbClr val="1F1A17"/>
                </a:solidFill>
                <a:latin typeface="Google Sans Flex"/>
                <a:ea typeface="Google Sans Flex"/>
                <a:cs typeface="Google Sans Flex"/>
                <a:sym typeface="Google Sans Flex"/>
              </a:rPr>
              <a:t>Kakwe checks a job offer before you pay, send documents or travel.</a:t>
            </a:r>
          </a:p>
          <a:p>
            <a:pPr algn="l">
              <a:lnSpc>
                <a:spcPct val="115000"/>
              </a:lnSpc>
              <a:spcBef>
                <a:spcPts val="1000"/>
              </a:spcBef>
            </a:pPr>
            <a:r>
              <a:rPr sz="1250" b="0">
                <a:solidFill>
                  <a:srgbClr val="57504A"/>
                </a:solidFill>
                <a:latin typeface="Google Sans Flex"/>
                <a:ea typeface="Google Sans Flex"/>
                <a:cs typeface="Google Sans Flex"/>
                <a:sym typeface="Google Sans Flex"/>
              </a:rPr>
              <a:t>Kakwe (</a:t>
            </a:r>
            <a:r>
              <a:rPr sz="1250" b="0">
                <a:solidFill>
                  <a:srgbClr val="57504A"/>
                </a:solidFill>
                <a:latin typeface="A10_YoeShin"/>
                <a:ea typeface="A10_YoeShin"/>
                <a:cs typeface="A10_YoeShin"/>
                <a:sym typeface="A10_YoeShin"/>
              </a:rPr>
              <a:t>ကာကွယ်</a:t>
            </a:r>
            <a:r>
              <a:rPr sz="1250" b="0">
                <a:solidFill>
                  <a:srgbClr val="57504A"/>
                </a:solidFill>
                <a:latin typeface="Google Sans Flex"/>
                <a:ea typeface="Google Sans Flex"/>
                <a:cs typeface="Google Sans Flex"/>
                <a:sym typeface="Google Sans Flex"/>
              </a:rPr>
              <a:t>, Burmese for "protect") is an Android app and a web demo for migrant job seekers from Myanmar, Thailand, Indonesia and the Philippines.</a:t>
            </a:r>
          </a:p>
          <a:p>
            <a:pPr algn="l">
              <a:lnSpc>
                <a:spcPct val="115000"/>
              </a:lnSpc>
              <a:spcBef>
                <a:spcPts val="800"/>
              </a:spcBef>
            </a:pPr>
            <a:r>
              <a:rPr sz="1250" b="0">
                <a:solidFill>
                  <a:srgbClr val="57504A"/>
                </a:solidFill>
                <a:latin typeface="Google Sans Flex"/>
                <a:ea typeface="Google Sans Flex"/>
                <a:cs typeface="Google Sans Flex"/>
                <a:sym typeface="Google Sans Flex"/>
              </a:rPr>
              <a:t>Paste a job ad, chat, link or screenshot, or tap the floating doll over any Android app. Gemini reads the evidence, Google Search checks named companies, and fixed rules set the verdict: Low risk, Be careful or High risk.</a:t>
            </a:r>
          </a:p>
          <a:p>
            <a:pPr algn="l">
              <a:lnSpc>
                <a:spcPct val="115000"/>
              </a:lnSpc>
              <a:spcBef>
                <a:spcPts val="800"/>
              </a:spcBef>
            </a:pPr>
            <a:r>
              <a:rPr sz="1250" b="0">
                <a:solidFill>
                  <a:srgbClr val="57504A"/>
                </a:solidFill>
                <a:latin typeface="Google Sans Flex"/>
                <a:ea typeface="Google Sans Flex"/>
                <a:cs typeface="Google Sans Flex"/>
                <a:sym typeface="Google Sans Flex"/>
              </a:rPr>
              <a:t>The report quotes the user's own words, gives a verified hotline and speaks the warning in English, Burmese, Bahasa Indonesia, Tagalog or Thai.</a:t>
            </a:r>
          </a:p>
          <a:p>
            <a:pPr algn="l">
              <a:lnSpc>
                <a:spcPct val="115000"/>
              </a:lnSpc>
              <a:spcBef>
                <a:spcPts val="1200"/>
              </a:spcBef>
            </a:pPr>
            <a:r>
              <a:rPr sz="950" b="0">
                <a:solidFill>
                  <a:srgbClr val="6B635C"/>
                </a:solidFill>
                <a:latin typeface="Google Sans Flex"/>
                <a:ea typeface="Google Sans Flex"/>
                <a:cs typeface="Google Sans Flex"/>
                <a:sym typeface="Google Sans Flex"/>
              </a:rPr>
              <a:t>The package name and web addresses keep the earlier project name saferoute.</a:t>
            </a:r>
          </a:p>
        </p:txBody>
      </p:sp>
      <p:pic>
        <p:nvPicPr>
          <p:cNvPr id="73" name="Picture 72" descr="ph-danger-en.png"/>
          <p:cNvPicPr>
            <a:picLocks noChangeAspect="1"/>
          </p:cNvPicPr>
          <p:nvPr/>
        </p:nvPicPr>
        <p:blipFill>
          <a:blip r:embed="rId4"/>
          <a:stretch>
            <a:fillRect/>
          </a:stretch>
        </p:blipFill>
        <p:spPr>
          <a:xfrm>
            <a:off x="5257800" y="1143000"/>
            <a:ext cx="1785874" cy="3611880"/>
          </a:xfrm>
          <a:prstGeom prst="rect">
            <a:avLst/>
          </a:prstGeom>
        </p:spPr>
      </p:pic>
      <p:pic>
        <p:nvPicPr>
          <p:cNvPr id="74" name="Picture 73" descr="ph-danger-my.png"/>
          <p:cNvPicPr>
            <a:picLocks noChangeAspect="1"/>
          </p:cNvPicPr>
          <p:nvPr/>
        </p:nvPicPr>
        <p:blipFill>
          <a:blip r:embed="rId5"/>
          <a:stretch>
            <a:fillRect/>
          </a:stretch>
        </p:blipFill>
        <p:spPr>
          <a:xfrm>
            <a:off x="7086600" y="1143000"/>
            <a:ext cx="1785874" cy="3611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6692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338328" y="1143000"/>
            <a:ext cx="2697480" cy="3520440"/>
          </a:xfrm>
          <a:prstGeom prst="roundRect">
            <a:avLst>
              <a:gd name="adj" fmla="val 2711"/>
            </a:avLst>
          </a:prstGeom>
          <a:solidFill>
            <a:srgbClr val="F7F3EE"/>
          </a:solidFill>
          <a:ln w="9525">
            <a:solidFill>
              <a:srgbClr val="E6DED3"/>
            </a:solidFill>
          </a:ln>
          <a:effectLst/>
        </p:spPr>
        <p:txBody>
          <a:bodyPr rtlCol="0" anchor="ctr"/>
          <a:lstStyle/>
          <a:p/>
        </p:txBody>
      </p:sp>
      <p:sp>
        <p:nvSpPr>
          <p:cNvPr id="81" name="TextBox 80"/>
          <p:cNvSpPr txBox="1"/>
          <p:nvPr/>
        </p:nvSpPr>
        <p:spPr>
          <a:xfrm>
            <a:off x="502920" y="1307592"/>
            <a:ext cx="2368296" cy="3200400"/>
          </a:xfrm>
          <a:prstGeom prst="rect">
            <a:avLst/>
          </a:prstGeom>
          <a:noFill/>
        </p:spPr>
        <p:txBody>
          <a:bodyPr wrap="square" anchor="t" lIns="0" rIns="0" tIns="0" bIns="0"/>
          <a:lstStyle/>
          <a:p>
            <a:pPr algn="l">
              <a:lnSpc>
                <a:spcPct val="115000"/>
              </a:lnSpc>
            </a:pPr>
            <a:r>
              <a:rPr sz="1400" b="1">
                <a:solidFill>
                  <a:srgbClr val="1F1A17"/>
                </a:solidFill>
                <a:latin typeface="Google Sans Flex"/>
                <a:ea typeface="Google Sans Flex"/>
                <a:cs typeface="Google Sans Flex"/>
                <a:sym typeface="Google Sans Flex"/>
              </a:rPr>
              <a:t>How different is it from any of the other existing ideas?</a:t>
            </a:r>
          </a:p>
          <a:p>
            <a:pPr algn="l">
              <a:lnSpc>
                <a:spcPct val="115000"/>
              </a:lnSpc>
              <a:spcBef>
                <a:spcPts val="1200"/>
              </a:spcBef>
            </a:pPr>
            <a:r>
              <a:rPr sz="1300" b="0">
                <a:solidFill>
                  <a:srgbClr val="57504A"/>
                </a:solidFill>
                <a:latin typeface="Google Sans Flex"/>
                <a:ea typeface="Google Sans Flex"/>
                <a:cs typeface="Google Sans Flex"/>
                <a:sym typeface="Google Sans Flex"/>
              </a:rPr>
              <a:t>It reads whole chat screenshots in Burmese and four other languages, not only links or numbers. Job Shield puts the job ad next to the recruiter's chat and shows each gap. Every warning quotes the words behind it.</a:t>
            </a:r>
          </a:p>
        </p:txBody>
      </p:sp>
      <p:sp>
        <p:nvSpPr>
          <p:cNvPr id="82" name="Rounded Rectangle 81"/>
          <p:cNvSpPr/>
          <p:nvPr/>
        </p:nvSpPr>
        <p:spPr>
          <a:xfrm>
            <a:off x="3200400" y="1143000"/>
            <a:ext cx="2697480" cy="3520440"/>
          </a:xfrm>
          <a:prstGeom prst="roundRect">
            <a:avLst>
              <a:gd name="adj" fmla="val 2711"/>
            </a:avLst>
          </a:prstGeom>
          <a:solidFill>
            <a:srgbClr val="F7F3EE"/>
          </a:solidFill>
          <a:ln w="9525">
            <a:solidFill>
              <a:srgbClr val="E6DED3"/>
            </a:solidFill>
          </a:ln>
          <a:effectLst/>
        </p:spPr>
        <p:txBody>
          <a:bodyPr rtlCol="0" anchor="ctr"/>
          <a:lstStyle/>
          <a:p/>
        </p:txBody>
      </p:sp>
      <p:sp>
        <p:nvSpPr>
          <p:cNvPr id="83" name="TextBox 82"/>
          <p:cNvSpPr txBox="1"/>
          <p:nvPr/>
        </p:nvSpPr>
        <p:spPr>
          <a:xfrm>
            <a:off x="3364992" y="1307592"/>
            <a:ext cx="2368296" cy="3200400"/>
          </a:xfrm>
          <a:prstGeom prst="rect">
            <a:avLst/>
          </a:prstGeom>
          <a:noFill/>
        </p:spPr>
        <p:txBody>
          <a:bodyPr wrap="square" anchor="t" lIns="0" rIns="0" tIns="0" bIns="0"/>
          <a:lstStyle/>
          <a:p>
            <a:pPr algn="l">
              <a:lnSpc>
                <a:spcPct val="115000"/>
              </a:lnSpc>
            </a:pPr>
            <a:r>
              <a:rPr sz="1400" b="1">
                <a:solidFill>
                  <a:srgbClr val="1F1A17"/>
                </a:solidFill>
                <a:latin typeface="Google Sans Flex"/>
                <a:ea typeface="Google Sans Flex"/>
                <a:cs typeface="Google Sans Flex"/>
                <a:sym typeface="Google Sans Flex"/>
              </a:rPr>
              <a:t>How will it be able to solve the problem?</a:t>
            </a:r>
          </a:p>
          <a:p>
            <a:pPr algn="l">
              <a:lnSpc>
                <a:spcPct val="115000"/>
              </a:lnSpc>
              <a:spcBef>
                <a:spcPts val="1200"/>
              </a:spcBef>
            </a:pPr>
            <a:r>
              <a:rPr sz="1300" b="0">
                <a:solidFill>
                  <a:srgbClr val="57504A"/>
                </a:solidFill>
                <a:latin typeface="Google Sans Flex"/>
                <a:ea typeface="Google Sans Flex"/>
                <a:cs typeface="Google Sans Flex"/>
                <a:sym typeface="Google Sans Flex"/>
              </a:rPr>
              <a:t>It works at the moment of risk: before paying, sending a passport or travelling. One tap on the floating doll checks any Android app. The report gives the next step, a verified hotline and a way to warn family.</a:t>
            </a:r>
          </a:p>
        </p:txBody>
      </p:sp>
      <p:sp>
        <p:nvSpPr>
          <p:cNvPr id="84" name="Rounded Rectangle 83"/>
          <p:cNvSpPr/>
          <p:nvPr/>
        </p:nvSpPr>
        <p:spPr>
          <a:xfrm>
            <a:off x="6062472" y="1143000"/>
            <a:ext cx="2697480" cy="3520440"/>
          </a:xfrm>
          <a:prstGeom prst="roundRect">
            <a:avLst>
              <a:gd name="adj" fmla="val 2711"/>
            </a:avLst>
          </a:prstGeom>
          <a:solidFill>
            <a:srgbClr val="F7F3EE"/>
          </a:solidFill>
          <a:ln w="9525">
            <a:solidFill>
              <a:srgbClr val="E6DED3"/>
            </a:solidFill>
          </a:ln>
          <a:effectLst/>
        </p:spPr>
        <p:txBody>
          <a:bodyPr rtlCol="0" anchor="ctr"/>
          <a:lstStyle/>
          <a:p/>
        </p:txBody>
      </p:sp>
      <p:sp>
        <p:nvSpPr>
          <p:cNvPr id="85" name="TextBox 84"/>
          <p:cNvSpPr txBox="1"/>
          <p:nvPr/>
        </p:nvSpPr>
        <p:spPr>
          <a:xfrm>
            <a:off x="6227064" y="1307592"/>
            <a:ext cx="2368296" cy="3200400"/>
          </a:xfrm>
          <a:prstGeom prst="rect">
            <a:avLst/>
          </a:prstGeom>
          <a:noFill/>
        </p:spPr>
        <p:txBody>
          <a:bodyPr wrap="square" anchor="t" lIns="0" rIns="0" tIns="0" bIns="0"/>
          <a:lstStyle/>
          <a:p>
            <a:pPr algn="l">
              <a:lnSpc>
                <a:spcPct val="115000"/>
              </a:lnSpc>
            </a:pPr>
            <a:r>
              <a:rPr sz="1400" b="1">
                <a:solidFill>
                  <a:srgbClr val="1F1A17"/>
                </a:solidFill>
                <a:latin typeface="Google Sans Flex"/>
                <a:ea typeface="Google Sans Flex"/>
                <a:cs typeface="Google Sans Flex"/>
                <a:sym typeface="Google Sans Flex"/>
              </a:rPr>
              <a:t>USP of the proposed solution</a:t>
            </a:r>
          </a:p>
          <a:p>
            <a:pPr algn="l">
              <a:lnSpc>
                <a:spcPct val="115000"/>
              </a:lnSpc>
              <a:spcBef>
                <a:spcPts val="1200"/>
              </a:spcBef>
            </a:pPr>
            <a:r>
              <a:rPr sz="1300" b="0">
                <a:solidFill>
                  <a:srgbClr val="57504A"/>
                </a:solidFill>
                <a:latin typeface="Google Sans Flex"/>
                <a:ea typeface="Google Sans Flex"/>
                <a:cs typeface="Google Sans Flex"/>
                <a:sym typeface="Google Sans Flex"/>
              </a:rPr>
              <a:t>Gemini finds evidence; deterministic rules decide. Wording stays in likelihood, never accusation. A Burmese voice companion answers from the finished report. The benchmark and its dataset are public.</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38328" y="1143000"/>
            <a:ext cx="1984248" cy="1700784"/>
          </a:xfrm>
          <a:prstGeom prst="roundRect">
            <a:avLst>
              <a:gd name="adj" fmla="val 4301"/>
            </a:avLst>
          </a:prstGeom>
          <a:solidFill>
            <a:srgbClr val="F7F3EE"/>
          </a:solidFill>
          <a:ln w="9525">
            <a:solidFill>
              <a:srgbClr val="E6DED3"/>
            </a:solidFill>
          </a:ln>
          <a:effectLst/>
        </p:spPr>
        <p:txBody>
          <a:bodyPr rtlCol="0" anchor="ctr"/>
          <a:lstStyle/>
          <a:p/>
        </p:txBody>
      </p:sp>
      <p:sp>
        <p:nvSpPr>
          <p:cNvPr id="89" name="TextBox 88"/>
          <p:cNvSpPr txBox="1"/>
          <p:nvPr/>
        </p:nvSpPr>
        <p:spPr>
          <a:xfrm>
            <a:off x="466344" y="1252728"/>
            <a:ext cx="1728216" cy="1517904"/>
          </a:xfrm>
          <a:prstGeom prst="rect">
            <a:avLst/>
          </a:prstGeom>
          <a:noFill/>
        </p:spPr>
        <p:txBody>
          <a:bodyPr wrap="square" anchor="t" lIns="0" rIns="0" tIns="0" bIns="0"/>
          <a:lstStyle/>
          <a:p>
            <a:pPr algn="l">
              <a:lnSpc>
                <a:spcPct val="110000"/>
              </a:lnSpc>
            </a:pPr>
            <a:r>
              <a:rPr sz="1400" b="1">
                <a:solidFill>
                  <a:srgbClr val="1F1A17"/>
                </a:solidFill>
                <a:latin typeface="Google Sans Flex"/>
                <a:ea typeface="Google Sans Flex"/>
                <a:cs typeface="Google Sans Flex"/>
                <a:sym typeface="Google Sans Flex"/>
              </a:rPr>
              <a:t>Check anything</a:t>
            </a:r>
          </a:p>
          <a:p>
            <a:pPr algn="l">
              <a:lnSpc>
                <a:spcPct val="110000"/>
              </a:lnSpc>
              <a:spcBef>
                <a:spcPts val="400"/>
              </a:spcBef>
            </a:pPr>
            <a:r>
              <a:rPr sz="1150" b="0">
                <a:solidFill>
                  <a:srgbClr val="57504A"/>
                </a:solidFill>
                <a:latin typeface="Google Sans Flex"/>
                <a:ea typeface="Google Sans Flex"/>
                <a:cs typeface="Google Sans Flex"/>
                <a:sym typeface="Google Sans Flex"/>
              </a:rPr>
              <a:t>Paste a message or link, or share a screenshot. Get Low risk, Be careful or High risk, with the quoted words.</a:t>
            </a:r>
          </a:p>
        </p:txBody>
      </p:sp>
      <p:sp>
        <p:nvSpPr>
          <p:cNvPr id="90" name="Rounded Rectangle 89"/>
          <p:cNvSpPr/>
          <p:nvPr/>
        </p:nvSpPr>
        <p:spPr>
          <a:xfrm>
            <a:off x="2459736" y="1143000"/>
            <a:ext cx="1984248" cy="1700784"/>
          </a:xfrm>
          <a:prstGeom prst="roundRect">
            <a:avLst>
              <a:gd name="adj" fmla="val 4301"/>
            </a:avLst>
          </a:prstGeom>
          <a:solidFill>
            <a:srgbClr val="F7F3EE"/>
          </a:solidFill>
          <a:ln w="9525">
            <a:solidFill>
              <a:srgbClr val="E6DED3"/>
            </a:solidFill>
          </a:ln>
          <a:effectLst/>
        </p:spPr>
        <p:txBody>
          <a:bodyPr rtlCol="0" anchor="ctr"/>
          <a:lstStyle/>
          <a:p/>
        </p:txBody>
      </p:sp>
      <p:sp>
        <p:nvSpPr>
          <p:cNvPr id="91" name="TextBox 90"/>
          <p:cNvSpPr txBox="1"/>
          <p:nvPr/>
        </p:nvSpPr>
        <p:spPr>
          <a:xfrm>
            <a:off x="2587752" y="1252728"/>
            <a:ext cx="1728216" cy="1517904"/>
          </a:xfrm>
          <a:prstGeom prst="rect">
            <a:avLst/>
          </a:prstGeom>
          <a:noFill/>
        </p:spPr>
        <p:txBody>
          <a:bodyPr wrap="square" anchor="t" lIns="0" rIns="0" tIns="0" bIns="0"/>
          <a:lstStyle/>
          <a:p>
            <a:pPr algn="l">
              <a:lnSpc>
                <a:spcPct val="110000"/>
              </a:lnSpc>
            </a:pPr>
            <a:r>
              <a:rPr sz="1400" b="1">
                <a:solidFill>
                  <a:srgbClr val="1F1A17"/>
                </a:solidFill>
                <a:latin typeface="Google Sans Flex"/>
                <a:ea typeface="Google Sans Flex"/>
                <a:cs typeface="Google Sans Flex"/>
                <a:sym typeface="Google Sans Flex"/>
              </a:rPr>
              <a:t>Job Shield</a:t>
            </a:r>
          </a:p>
          <a:p>
            <a:pPr algn="l">
              <a:lnSpc>
                <a:spcPct val="110000"/>
              </a:lnSpc>
              <a:spcBef>
                <a:spcPts val="400"/>
              </a:spcBef>
            </a:pPr>
            <a:r>
              <a:rPr sz="1150" b="0">
                <a:solidFill>
                  <a:srgbClr val="57504A"/>
                </a:solidFill>
                <a:latin typeface="Google Sans Flex"/>
                <a:ea typeface="Google Sans Flex"/>
                <a:cs typeface="Google Sans Flex"/>
                <a:sym typeface="Google Sans Flex"/>
              </a:rPr>
              <a:t>Compares the job ad with what the recruiter asks in chat and shows each gap.</a:t>
            </a:r>
          </a:p>
        </p:txBody>
      </p:sp>
      <p:sp>
        <p:nvSpPr>
          <p:cNvPr id="92" name="Rounded Rectangle 91"/>
          <p:cNvSpPr/>
          <p:nvPr/>
        </p:nvSpPr>
        <p:spPr>
          <a:xfrm>
            <a:off x="4581144" y="1143000"/>
            <a:ext cx="1984248" cy="1700784"/>
          </a:xfrm>
          <a:prstGeom prst="roundRect">
            <a:avLst>
              <a:gd name="adj" fmla="val 4301"/>
            </a:avLst>
          </a:prstGeom>
          <a:solidFill>
            <a:srgbClr val="F7F3EE"/>
          </a:solidFill>
          <a:ln w="9525">
            <a:solidFill>
              <a:srgbClr val="E6DED3"/>
            </a:solidFill>
          </a:ln>
          <a:effectLst/>
        </p:spPr>
        <p:txBody>
          <a:bodyPr rtlCol="0" anchor="ctr"/>
          <a:lstStyle/>
          <a:p/>
        </p:txBody>
      </p:sp>
      <p:sp>
        <p:nvSpPr>
          <p:cNvPr id="93" name="TextBox 92"/>
          <p:cNvSpPr txBox="1"/>
          <p:nvPr/>
        </p:nvSpPr>
        <p:spPr>
          <a:xfrm>
            <a:off x="4709159" y="1252728"/>
            <a:ext cx="1728216" cy="1517904"/>
          </a:xfrm>
          <a:prstGeom prst="rect">
            <a:avLst/>
          </a:prstGeom>
          <a:noFill/>
        </p:spPr>
        <p:txBody>
          <a:bodyPr wrap="square" anchor="t" lIns="0" rIns="0" tIns="0" bIns="0"/>
          <a:lstStyle/>
          <a:p>
            <a:pPr algn="l">
              <a:lnSpc>
                <a:spcPct val="110000"/>
              </a:lnSpc>
            </a:pPr>
            <a:r>
              <a:rPr sz="1400" b="1">
                <a:solidFill>
                  <a:srgbClr val="1F1A17"/>
                </a:solidFill>
                <a:latin typeface="Google Sans Flex"/>
                <a:ea typeface="Google Sans Flex"/>
                <a:cs typeface="Google Sans Flex"/>
                <a:sym typeface="Google Sans Flex"/>
              </a:rPr>
              <a:t>Screen bubble</a:t>
            </a:r>
          </a:p>
          <a:p>
            <a:pPr algn="l">
              <a:lnSpc>
                <a:spcPct val="110000"/>
              </a:lnSpc>
              <a:spcBef>
                <a:spcPts val="400"/>
              </a:spcBef>
            </a:pPr>
            <a:r>
              <a:rPr sz="1150" b="0">
                <a:solidFill>
                  <a:srgbClr val="57504A"/>
                </a:solidFill>
                <a:latin typeface="Google Sans Flex"/>
                <a:ea typeface="Google Sans Flex"/>
                <a:cs typeface="Google Sans Flex"/>
                <a:sym typeface="Google Sans Flex"/>
              </a:rPr>
              <a:t>Android. A floating doll checks whatever is on screen, in any app, with one tap.</a:t>
            </a:r>
          </a:p>
        </p:txBody>
      </p:sp>
      <p:sp>
        <p:nvSpPr>
          <p:cNvPr id="94" name="Rounded Rectangle 93"/>
          <p:cNvSpPr/>
          <p:nvPr/>
        </p:nvSpPr>
        <p:spPr>
          <a:xfrm>
            <a:off x="6702551" y="1143000"/>
            <a:ext cx="1984248" cy="1700784"/>
          </a:xfrm>
          <a:prstGeom prst="roundRect">
            <a:avLst>
              <a:gd name="adj" fmla="val 4301"/>
            </a:avLst>
          </a:prstGeom>
          <a:solidFill>
            <a:srgbClr val="F7F3EE"/>
          </a:solidFill>
          <a:ln w="9525">
            <a:solidFill>
              <a:srgbClr val="E6DED3"/>
            </a:solidFill>
          </a:ln>
          <a:effectLst/>
        </p:spPr>
        <p:txBody>
          <a:bodyPr rtlCol="0" anchor="ctr"/>
          <a:lstStyle/>
          <a:p/>
        </p:txBody>
      </p:sp>
      <p:sp>
        <p:nvSpPr>
          <p:cNvPr id="95" name="TextBox 94"/>
          <p:cNvSpPr txBox="1"/>
          <p:nvPr/>
        </p:nvSpPr>
        <p:spPr>
          <a:xfrm>
            <a:off x="6830567" y="1252728"/>
            <a:ext cx="1728216" cy="1517904"/>
          </a:xfrm>
          <a:prstGeom prst="rect">
            <a:avLst/>
          </a:prstGeom>
          <a:noFill/>
        </p:spPr>
        <p:txBody>
          <a:bodyPr wrap="square" anchor="t" lIns="0" rIns="0" tIns="0" bIns="0"/>
          <a:lstStyle/>
          <a:p>
            <a:pPr algn="l">
              <a:lnSpc>
                <a:spcPct val="110000"/>
              </a:lnSpc>
            </a:pPr>
            <a:r>
              <a:rPr sz="1400" b="1">
                <a:solidFill>
                  <a:srgbClr val="1F1A17"/>
                </a:solidFill>
                <a:latin typeface="Google Sans Flex"/>
                <a:ea typeface="Google Sans Flex"/>
                <a:cs typeface="Google Sans Flex"/>
                <a:sym typeface="Google Sans Flex"/>
              </a:rPr>
              <a:t>Scam radar</a:t>
            </a:r>
          </a:p>
          <a:p>
            <a:pPr algn="l">
              <a:lnSpc>
                <a:spcPct val="110000"/>
              </a:lnSpc>
              <a:spcBef>
                <a:spcPts val="400"/>
              </a:spcBef>
            </a:pPr>
            <a:r>
              <a:rPr sz="1150" b="0">
                <a:solidFill>
                  <a:srgbClr val="57504A"/>
                </a:solidFill>
                <a:latin typeface="Google Sans Flex"/>
                <a:ea typeface="Google Sans Flex"/>
                <a:cs typeface="Google Sans Flex"/>
                <a:sym typeface="Google Sans Flex"/>
              </a:rPr>
              <a:t>Shows which scams people are reporting right now, from opt-in anonymous signals.</a:t>
            </a:r>
          </a:p>
        </p:txBody>
      </p:sp>
      <p:sp>
        <p:nvSpPr>
          <p:cNvPr id="96" name="Rounded Rectangle 95"/>
          <p:cNvSpPr/>
          <p:nvPr/>
        </p:nvSpPr>
        <p:spPr>
          <a:xfrm>
            <a:off x="338328" y="2980944"/>
            <a:ext cx="1984248" cy="1700784"/>
          </a:xfrm>
          <a:prstGeom prst="roundRect">
            <a:avLst>
              <a:gd name="adj" fmla="val 4301"/>
            </a:avLst>
          </a:prstGeom>
          <a:solidFill>
            <a:srgbClr val="F7F3EE"/>
          </a:solidFill>
          <a:ln w="9525">
            <a:solidFill>
              <a:srgbClr val="E6DED3"/>
            </a:solidFill>
          </a:ln>
          <a:effectLst/>
        </p:spPr>
        <p:txBody>
          <a:bodyPr rtlCol="0" anchor="ctr"/>
          <a:lstStyle/>
          <a:p/>
        </p:txBody>
      </p:sp>
      <p:sp>
        <p:nvSpPr>
          <p:cNvPr id="97" name="TextBox 96"/>
          <p:cNvSpPr txBox="1"/>
          <p:nvPr/>
        </p:nvSpPr>
        <p:spPr>
          <a:xfrm>
            <a:off x="466344" y="3090672"/>
            <a:ext cx="1728216" cy="1517904"/>
          </a:xfrm>
          <a:prstGeom prst="rect">
            <a:avLst/>
          </a:prstGeom>
          <a:noFill/>
        </p:spPr>
        <p:txBody>
          <a:bodyPr wrap="square" anchor="t" lIns="0" rIns="0" tIns="0" bIns="0"/>
          <a:lstStyle/>
          <a:p>
            <a:pPr algn="l">
              <a:lnSpc>
                <a:spcPct val="110000"/>
              </a:lnSpc>
            </a:pPr>
            <a:r>
              <a:rPr sz="1400" b="1">
                <a:solidFill>
                  <a:srgbClr val="1F1A17"/>
                </a:solidFill>
                <a:latin typeface="Google Sans Flex"/>
                <a:ea typeface="Google Sans Flex"/>
                <a:cs typeface="Google Sans Flex"/>
                <a:sym typeface="Google Sans Flex"/>
              </a:rPr>
              <a:t>Voice companion</a:t>
            </a:r>
          </a:p>
          <a:p>
            <a:pPr algn="l">
              <a:lnSpc>
                <a:spcPct val="110000"/>
              </a:lnSpc>
              <a:spcBef>
                <a:spcPts val="400"/>
              </a:spcBef>
            </a:pPr>
            <a:r>
              <a:rPr sz="1150" b="0">
                <a:solidFill>
                  <a:srgbClr val="57504A"/>
                </a:solidFill>
                <a:latin typeface="Google Sans Flex"/>
                <a:ea typeface="Google Sans Flex"/>
                <a:cs typeface="Google Sans Flex"/>
                <a:sym typeface="Google Sans Flex"/>
              </a:rPr>
              <a:t>Talk to Pyit Taing Htaung about a report, in your language, on Gemini Live.</a:t>
            </a:r>
          </a:p>
        </p:txBody>
      </p:sp>
      <p:sp>
        <p:nvSpPr>
          <p:cNvPr id="98" name="Rounded Rectangle 97"/>
          <p:cNvSpPr/>
          <p:nvPr/>
        </p:nvSpPr>
        <p:spPr>
          <a:xfrm>
            <a:off x="2459736" y="2980944"/>
            <a:ext cx="1984248" cy="1700784"/>
          </a:xfrm>
          <a:prstGeom prst="roundRect">
            <a:avLst>
              <a:gd name="adj" fmla="val 4301"/>
            </a:avLst>
          </a:prstGeom>
          <a:solidFill>
            <a:srgbClr val="F7F3EE"/>
          </a:solidFill>
          <a:ln w="9525">
            <a:solidFill>
              <a:srgbClr val="E6DED3"/>
            </a:solidFill>
          </a:ln>
          <a:effectLst/>
        </p:spPr>
        <p:txBody>
          <a:bodyPr rtlCol="0" anchor="ctr"/>
          <a:lstStyle/>
          <a:p/>
        </p:txBody>
      </p:sp>
      <p:sp>
        <p:nvSpPr>
          <p:cNvPr id="99" name="TextBox 98"/>
          <p:cNvSpPr txBox="1"/>
          <p:nvPr/>
        </p:nvSpPr>
        <p:spPr>
          <a:xfrm>
            <a:off x="2587752" y="3090672"/>
            <a:ext cx="1728216" cy="1517904"/>
          </a:xfrm>
          <a:prstGeom prst="rect">
            <a:avLst/>
          </a:prstGeom>
          <a:noFill/>
        </p:spPr>
        <p:txBody>
          <a:bodyPr wrap="square" anchor="t" lIns="0" rIns="0" tIns="0" bIns="0"/>
          <a:lstStyle/>
          <a:p>
            <a:pPr algn="l">
              <a:lnSpc>
                <a:spcPct val="110000"/>
              </a:lnSpc>
            </a:pPr>
            <a:r>
              <a:rPr sz="1400" b="1">
                <a:solidFill>
                  <a:srgbClr val="1F1A17"/>
                </a:solidFill>
                <a:latin typeface="Google Sans Flex"/>
                <a:ea typeface="Google Sans Flex"/>
                <a:cs typeface="Google Sans Flex"/>
                <a:sym typeface="Google Sans Flex"/>
              </a:rPr>
              <a:t>Warn my family</a:t>
            </a:r>
          </a:p>
          <a:p>
            <a:pPr algn="l">
              <a:lnSpc>
                <a:spcPct val="110000"/>
              </a:lnSpc>
              <a:spcBef>
                <a:spcPts val="400"/>
              </a:spcBef>
            </a:pPr>
            <a:r>
              <a:rPr sz="1150" b="0">
                <a:solidFill>
                  <a:srgbClr val="57504A"/>
                </a:solidFill>
                <a:latin typeface="Google Sans Flex"/>
                <a:ea typeface="Google Sans Flex"/>
                <a:cs typeface="Google Sans Flex"/>
                <a:sym typeface="Google Sans Flex"/>
              </a:rPr>
              <a:t>Sends the warning to a trusted contact by SMS or the share sheet.</a:t>
            </a:r>
          </a:p>
        </p:txBody>
      </p:sp>
      <p:sp>
        <p:nvSpPr>
          <p:cNvPr id="100" name="Rounded Rectangle 99"/>
          <p:cNvSpPr/>
          <p:nvPr/>
        </p:nvSpPr>
        <p:spPr>
          <a:xfrm>
            <a:off x="4581144" y="2980944"/>
            <a:ext cx="1984248" cy="1700784"/>
          </a:xfrm>
          <a:prstGeom prst="roundRect">
            <a:avLst>
              <a:gd name="adj" fmla="val 4301"/>
            </a:avLst>
          </a:prstGeom>
          <a:solidFill>
            <a:srgbClr val="F7F3EE"/>
          </a:solidFill>
          <a:ln w="9525">
            <a:solidFill>
              <a:srgbClr val="E6DED3"/>
            </a:solidFill>
          </a:ln>
          <a:effectLst/>
        </p:spPr>
        <p:txBody>
          <a:bodyPr rtlCol="0" anchor="ctr"/>
          <a:lstStyle/>
          <a:p/>
        </p:txBody>
      </p:sp>
      <p:sp>
        <p:nvSpPr>
          <p:cNvPr id="101" name="TextBox 100"/>
          <p:cNvSpPr txBox="1"/>
          <p:nvPr/>
        </p:nvSpPr>
        <p:spPr>
          <a:xfrm>
            <a:off x="4709159" y="3090672"/>
            <a:ext cx="1728216" cy="1517904"/>
          </a:xfrm>
          <a:prstGeom prst="rect">
            <a:avLst/>
          </a:prstGeom>
          <a:noFill/>
        </p:spPr>
        <p:txBody>
          <a:bodyPr wrap="square" anchor="t" lIns="0" rIns="0" tIns="0" bIns="0"/>
          <a:lstStyle/>
          <a:p>
            <a:pPr algn="l">
              <a:lnSpc>
                <a:spcPct val="110000"/>
              </a:lnSpc>
            </a:pPr>
            <a:r>
              <a:rPr sz="1400" b="1">
                <a:solidFill>
                  <a:srgbClr val="1F1A17"/>
                </a:solidFill>
                <a:latin typeface="Google Sans Flex"/>
                <a:ea typeface="Google Sans Flex"/>
                <a:cs typeface="Google Sans Flex"/>
                <a:sym typeface="Google Sans Flex"/>
              </a:rPr>
              <a:t>Scam network</a:t>
            </a:r>
          </a:p>
          <a:p>
            <a:pPr algn="l">
              <a:lnSpc>
                <a:spcPct val="110000"/>
              </a:lnSpc>
              <a:spcBef>
                <a:spcPts val="400"/>
              </a:spcBef>
            </a:pPr>
            <a:r>
              <a:rPr sz="1150" b="0">
                <a:solidFill>
                  <a:srgbClr val="57504A"/>
                </a:solidFill>
                <a:latin typeface="Google Sans Flex"/>
                <a:ea typeface="Google Sans Flex"/>
                <a:cs typeface="Google Sans Flex"/>
                <a:sym typeface="Google Sans Flex"/>
              </a:rPr>
              <a:t>Opt-in. Repeat numbers and handles, kept as keyed hashes, raise the next warning.</a:t>
            </a:r>
          </a:p>
        </p:txBody>
      </p:sp>
      <p:sp>
        <p:nvSpPr>
          <p:cNvPr id="102" name="Rounded Rectangle 101"/>
          <p:cNvSpPr/>
          <p:nvPr/>
        </p:nvSpPr>
        <p:spPr>
          <a:xfrm>
            <a:off x="6702551" y="2980944"/>
            <a:ext cx="1984248" cy="1700784"/>
          </a:xfrm>
          <a:prstGeom prst="roundRect">
            <a:avLst>
              <a:gd name="adj" fmla="val 4301"/>
            </a:avLst>
          </a:prstGeom>
          <a:solidFill>
            <a:srgbClr val="F7F3EE"/>
          </a:solidFill>
          <a:ln w="9525">
            <a:solidFill>
              <a:srgbClr val="E6DED3"/>
            </a:solidFill>
          </a:ln>
          <a:effectLst/>
        </p:spPr>
        <p:txBody>
          <a:bodyPr rtlCol="0" anchor="ctr"/>
          <a:lstStyle/>
          <a:p/>
        </p:txBody>
      </p:sp>
      <p:sp>
        <p:nvSpPr>
          <p:cNvPr id="103" name="TextBox 102"/>
          <p:cNvSpPr txBox="1"/>
          <p:nvPr/>
        </p:nvSpPr>
        <p:spPr>
          <a:xfrm>
            <a:off x="6830567" y="3090672"/>
            <a:ext cx="1728216" cy="1517904"/>
          </a:xfrm>
          <a:prstGeom prst="rect">
            <a:avLst/>
          </a:prstGeom>
          <a:noFill/>
        </p:spPr>
        <p:txBody>
          <a:bodyPr wrap="square" anchor="t" lIns="0" rIns="0" tIns="0" bIns="0"/>
          <a:lstStyle/>
          <a:p>
            <a:pPr algn="l">
              <a:lnSpc>
                <a:spcPct val="110000"/>
              </a:lnSpc>
            </a:pPr>
            <a:r>
              <a:rPr sz="1400" b="1">
                <a:solidFill>
                  <a:srgbClr val="1F1A17"/>
                </a:solidFill>
                <a:latin typeface="Google Sans Flex"/>
                <a:ea typeface="Google Sans Flex"/>
                <a:cs typeface="Google Sans Flex"/>
                <a:sym typeface="Google Sans Flex"/>
              </a:rPr>
              <a:t>Five languages</a:t>
            </a:r>
          </a:p>
          <a:p>
            <a:pPr algn="l">
              <a:lnSpc>
                <a:spcPct val="110000"/>
              </a:lnSpc>
              <a:spcBef>
                <a:spcPts val="400"/>
              </a:spcBef>
            </a:pPr>
            <a:r>
              <a:rPr sz="1150" b="0">
                <a:solidFill>
                  <a:srgbClr val="57504A"/>
                </a:solidFill>
                <a:latin typeface="Google Sans Flex"/>
                <a:ea typeface="Google Sans Flex"/>
                <a:cs typeface="Google Sans Flex"/>
                <a:sym typeface="Google Sans Flex"/>
              </a:rPr>
              <a:t>English, Burmese, Bahasa Indonesia, Tagalog and Thai. Quick exit clears the screen.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338328" y="1097280"/>
            <a:ext cx="8229600" cy="274320"/>
          </a:xfrm>
          <a:prstGeom prst="rect">
            <a:avLst/>
          </a:prstGeom>
          <a:noFill/>
        </p:spPr>
        <p:txBody>
          <a:bodyPr wrap="square" anchor="t" lIns="0" rIns="0" tIns="0" bIns="0"/>
          <a:lstStyle/>
          <a:p>
            <a:pPr algn="l">
              <a:lnSpc>
                <a:spcPct val="110000"/>
              </a:lnSpc>
            </a:pPr>
            <a:r>
              <a:rPr sz="1200" b="1">
                <a:solidFill>
                  <a:srgbClr val="1F1A17"/>
                </a:solidFill>
                <a:latin typeface="Google Sans Flex"/>
                <a:ea typeface="Google Sans Flex"/>
                <a:cs typeface="Google Sans Flex"/>
                <a:sym typeface="Google Sans Flex"/>
              </a:rPr>
              <a:t>Ma Su's journey (a fictional story)</a:t>
            </a:r>
          </a:p>
        </p:txBody>
      </p:sp>
      <p:sp>
        <p:nvSpPr>
          <p:cNvPr id="97" name="Rounded Rectangle 96"/>
          <p:cNvSpPr/>
          <p:nvPr/>
        </p:nvSpPr>
        <p:spPr>
          <a:xfrm>
            <a:off x="338328" y="1426464"/>
            <a:ext cx="1243584" cy="1188720"/>
          </a:xfrm>
          <a:prstGeom prst="roundRect">
            <a:avLst>
              <a:gd name="adj" fmla="val 6153"/>
            </a:avLst>
          </a:prstGeom>
          <a:solidFill>
            <a:srgbClr val="F7F3EE"/>
          </a:solidFill>
          <a:ln w="9525">
            <a:solidFill>
              <a:srgbClr val="E6DED3"/>
            </a:solidFill>
          </a:ln>
          <a:effectLst/>
        </p:spPr>
        <p:txBody>
          <a:bodyPr rtlCol="0" anchor="ctr"/>
          <a:lstStyle/>
          <a:p/>
        </p:txBody>
      </p:sp>
      <p:sp>
        <p:nvSpPr>
          <p:cNvPr id="98" name="TextBox 97"/>
          <p:cNvSpPr txBox="1"/>
          <p:nvPr/>
        </p:nvSpPr>
        <p:spPr>
          <a:xfrm>
            <a:off x="411480" y="1481328"/>
            <a:ext cx="1097280" cy="1078992"/>
          </a:xfrm>
          <a:prstGeom prst="rect">
            <a:avLst/>
          </a:prstGeom>
          <a:noFill/>
        </p:spPr>
        <p:txBody>
          <a:bodyPr wrap="square" anchor="ctr" lIns="0" rIns="0" tIns="0" bIns="0"/>
          <a:lstStyle/>
          <a:p>
            <a:pPr algn="ctr">
              <a:lnSpc>
                <a:spcPct val="108000"/>
              </a:lnSpc>
            </a:pPr>
            <a:r>
              <a:rPr sz="1100" b="0">
                <a:solidFill>
                  <a:srgbClr val="1F1A17"/>
                </a:solidFill>
                <a:latin typeface="Google Sans Flex"/>
                <a:ea typeface="Google Sans Flex"/>
                <a:cs typeface="Google Sans Flex"/>
                <a:sym typeface="Google Sans Flex"/>
              </a:rPr>
              <a:t>A Viber message offers a factory job in Thailand</a:t>
            </a:r>
          </a:p>
        </p:txBody>
      </p:sp>
      <p:cxnSp>
        <p:nvCxnSpPr>
          <p:cNvPr id="99" name="Connector 98"/>
          <p:cNvCxnSpPr/>
          <p:nvPr/>
        </p:nvCxnSpPr>
        <p:spPr>
          <a:xfrm>
            <a:off x="1609344" y="2020824"/>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0" name="Rounded Rectangle 99"/>
          <p:cNvSpPr/>
          <p:nvPr/>
        </p:nvSpPr>
        <p:spPr>
          <a:xfrm>
            <a:off x="1783080" y="1426464"/>
            <a:ext cx="1243584" cy="1188720"/>
          </a:xfrm>
          <a:prstGeom prst="roundRect">
            <a:avLst>
              <a:gd name="adj" fmla="val 6153"/>
            </a:avLst>
          </a:prstGeom>
          <a:solidFill>
            <a:srgbClr val="F7F3EE"/>
          </a:solidFill>
          <a:ln w="9525">
            <a:solidFill>
              <a:srgbClr val="E6DED3"/>
            </a:solidFill>
          </a:ln>
          <a:effectLst/>
        </p:spPr>
        <p:txBody>
          <a:bodyPr rtlCol="0" anchor="ctr"/>
          <a:lstStyle/>
          <a:p/>
        </p:txBody>
      </p:sp>
      <p:sp>
        <p:nvSpPr>
          <p:cNvPr id="101" name="TextBox 100"/>
          <p:cNvSpPr txBox="1"/>
          <p:nvPr/>
        </p:nvSpPr>
        <p:spPr>
          <a:xfrm>
            <a:off x="1856232" y="1481328"/>
            <a:ext cx="1097280" cy="1078992"/>
          </a:xfrm>
          <a:prstGeom prst="rect">
            <a:avLst/>
          </a:prstGeom>
          <a:noFill/>
        </p:spPr>
        <p:txBody>
          <a:bodyPr wrap="square" anchor="ctr" lIns="0" rIns="0" tIns="0" bIns="0"/>
          <a:lstStyle/>
          <a:p>
            <a:pPr algn="ctr">
              <a:lnSpc>
                <a:spcPct val="108000"/>
              </a:lnSpc>
            </a:pPr>
            <a:r>
              <a:rPr sz="1100" b="0">
                <a:solidFill>
                  <a:srgbClr val="1F1A17"/>
                </a:solidFill>
                <a:latin typeface="Google Sans Flex"/>
                <a:ea typeface="Google Sans Flex"/>
                <a:cs typeface="Google Sans Flex"/>
                <a:sym typeface="Google Sans Flex"/>
              </a:rPr>
              <a:t>She pastes it into Check, or taps the floating doll</a:t>
            </a:r>
          </a:p>
        </p:txBody>
      </p:sp>
      <p:cxnSp>
        <p:nvCxnSpPr>
          <p:cNvPr id="102" name="Connector 101"/>
          <p:cNvCxnSpPr/>
          <p:nvPr/>
        </p:nvCxnSpPr>
        <p:spPr>
          <a:xfrm>
            <a:off x="3054096" y="2020824"/>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Rounded Rectangle 102"/>
          <p:cNvSpPr/>
          <p:nvPr/>
        </p:nvSpPr>
        <p:spPr>
          <a:xfrm>
            <a:off x="3227832" y="1426464"/>
            <a:ext cx="1243584" cy="1188720"/>
          </a:xfrm>
          <a:prstGeom prst="roundRect">
            <a:avLst>
              <a:gd name="adj" fmla="val 6153"/>
            </a:avLst>
          </a:prstGeom>
          <a:solidFill>
            <a:srgbClr val="9F1239"/>
          </a:solidFill>
          <a:ln>
            <a:noFill/>
          </a:ln>
          <a:effectLst/>
        </p:spPr>
        <p:txBody>
          <a:bodyPr rtlCol="0" anchor="ctr"/>
          <a:lstStyle/>
          <a:p/>
        </p:txBody>
      </p:sp>
      <p:sp>
        <p:nvSpPr>
          <p:cNvPr id="104" name="TextBox 103"/>
          <p:cNvSpPr txBox="1"/>
          <p:nvPr/>
        </p:nvSpPr>
        <p:spPr>
          <a:xfrm>
            <a:off x="3300984" y="1481328"/>
            <a:ext cx="1097280" cy="1078992"/>
          </a:xfrm>
          <a:prstGeom prst="rect">
            <a:avLst/>
          </a:prstGeom>
          <a:noFill/>
        </p:spPr>
        <p:txBody>
          <a:bodyPr wrap="square" anchor="ctr" lIns="0" rIns="0" tIns="0" bIns="0"/>
          <a:lstStyle/>
          <a:p>
            <a:pPr algn="ctr">
              <a:lnSpc>
                <a:spcPct val="108000"/>
              </a:lnSpc>
            </a:pPr>
            <a:r>
              <a:rPr sz="1100" b="0">
                <a:solidFill>
                  <a:srgbClr val="FFFFFF"/>
                </a:solidFill>
                <a:latin typeface="Google Sans Flex"/>
                <a:ea typeface="Google Sans Flex"/>
                <a:cs typeface="Google Sans Flex"/>
                <a:sym typeface="Google Sans Flex"/>
              </a:rPr>
              <a:t>High risk. Her own words are quoted as warning signs</a:t>
            </a:r>
          </a:p>
        </p:txBody>
      </p:sp>
      <p:cxnSp>
        <p:nvCxnSpPr>
          <p:cNvPr id="105" name="Connector 104"/>
          <p:cNvCxnSpPr/>
          <p:nvPr/>
        </p:nvCxnSpPr>
        <p:spPr>
          <a:xfrm>
            <a:off x="4498848" y="2020824"/>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6" name="Rounded Rectangle 105"/>
          <p:cNvSpPr/>
          <p:nvPr/>
        </p:nvSpPr>
        <p:spPr>
          <a:xfrm>
            <a:off x="4672584" y="1426464"/>
            <a:ext cx="1243584" cy="1188720"/>
          </a:xfrm>
          <a:prstGeom prst="roundRect">
            <a:avLst>
              <a:gd name="adj" fmla="val 6153"/>
            </a:avLst>
          </a:prstGeom>
          <a:solidFill>
            <a:srgbClr val="F7F3EE"/>
          </a:solidFill>
          <a:ln w="9525">
            <a:solidFill>
              <a:srgbClr val="E6DED3"/>
            </a:solidFill>
          </a:ln>
          <a:effectLst/>
        </p:spPr>
        <p:txBody>
          <a:bodyPr rtlCol="0" anchor="ctr"/>
          <a:lstStyle/>
          <a:p/>
        </p:txBody>
      </p:sp>
      <p:sp>
        <p:nvSpPr>
          <p:cNvPr id="107" name="TextBox 106"/>
          <p:cNvSpPr txBox="1"/>
          <p:nvPr/>
        </p:nvSpPr>
        <p:spPr>
          <a:xfrm>
            <a:off x="4745736" y="1481328"/>
            <a:ext cx="1097280" cy="1078992"/>
          </a:xfrm>
          <a:prstGeom prst="rect">
            <a:avLst/>
          </a:prstGeom>
          <a:noFill/>
        </p:spPr>
        <p:txBody>
          <a:bodyPr wrap="square" anchor="ctr" lIns="0" rIns="0" tIns="0" bIns="0"/>
          <a:lstStyle/>
          <a:p>
            <a:pPr algn="ctr">
              <a:lnSpc>
                <a:spcPct val="108000"/>
              </a:lnSpc>
            </a:pPr>
            <a:r>
              <a:rPr sz="1100" b="0">
                <a:solidFill>
                  <a:srgbClr val="1F1A17"/>
                </a:solidFill>
                <a:latin typeface="Google Sans Flex"/>
                <a:ea typeface="Google Sans Flex"/>
                <a:cs typeface="Google Sans Flex"/>
                <a:sym typeface="Google Sans Flex"/>
              </a:rPr>
              <a:t>Job Shield: the ad says no fees, the chat asks for a deposit</a:t>
            </a:r>
          </a:p>
        </p:txBody>
      </p:sp>
      <p:cxnSp>
        <p:nvCxnSpPr>
          <p:cNvPr id="108" name="Connector 107"/>
          <p:cNvCxnSpPr/>
          <p:nvPr/>
        </p:nvCxnSpPr>
        <p:spPr>
          <a:xfrm>
            <a:off x="5943600" y="2020824"/>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6117336" y="1426464"/>
            <a:ext cx="1243584" cy="1188720"/>
          </a:xfrm>
          <a:prstGeom prst="roundRect">
            <a:avLst>
              <a:gd name="adj" fmla="val 6153"/>
            </a:avLst>
          </a:prstGeom>
          <a:solidFill>
            <a:srgbClr val="F7F3EE"/>
          </a:solidFill>
          <a:ln w="9525">
            <a:solidFill>
              <a:srgbClr val="E6DED3"/>
            </a:solidFill>
          </a:ln>
          <a:effectLst/>
        </p:spPr>
        <p:txBody>
          <a:bodyPr rtlCol="0" anchor="ctr"/>
          <a:lstStyle/>
          <a:p/>
        </p:txBody>
      </p:sp>
      <p:sp>
        <p:nvSpPr>
          <p:cNvPr id="110" name="TextBox 109"/>
          <p:cNvSpPr txBox="1"/>
          <p:nvPr/>
        </p:nvSpPr>
        <p:spPr>
          <a:xfrm>
            <a:off x="6190488" y="1481328"/>
            <a:ext cx="1097280" cy="1078992"/>
          </a:xfrm>
          <a:prstGeom prst="rect">
            <a:avLst/>
          </a:prstGeom>
          <a:noFill/>
        </p:spPr>
        <p:txBody>
          <a:bodyPr wrap="square" anchor="ctr" lIns="0" rIns="0" tIns="0" bIns="0"/>
          <a:lstStyle/>
          <a:p>
            <a:pPr algn="ctr">
              <a:lnSpc>
                <a:spcPct val="108000"/>
              </a:lnSpc>
            </a:pPr>
            <a:r>
              <a:rPr sz="1100" b="0">
                <a:solidFill>
                  <a:srgbClr val="1F1A17"/>
                </a:solidFill>
                <a:latin typeface="Google Sans Flex"/>
                <a:ea typeface="Google Sans Flex"/>
                <a:cs typeface="Google Sans Flex"/>
                <a:sym typeface="Google Sans Flex"/>
              </a:rPr>
              <a:t>She asks Pyit Taing Htaung, in Burmese</a:t>
            </a:r>
          </a:p>
        </p:txBody>
      </p:sp>
      <p:cxnSp>
        <p:nvCxnSpPr>
          <p:cNvPr id="111" name="Connector 110"/>
          <p:cNvCxnSpPr/>
          <p:nvPr/>
        </p:nvCxnSpPr>
        <p:spPr>
          <a:xfrm>
            <a:off x="7388352" y="2020824"/>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2" name="Rounded Rectangle 111"/>
          <p:cNvSpPr/>
          <p:nvPr/>
        </p:nvSpPr>
        <p:spPr>
          <a:xfrm>
            <a:off x="7562088" y="1426464"/>
            <a:ext cx="1243584" cy="1188720"/>
          </a:xfrm>
          <a:prstGeom prst="roundRect">
            <a:avLst>
              <a:gd name="adj" fmla="val 6153"/>
            </a:avLst>
          </a:prstGeom>
          <a:solidFill>
            <a:srgbClr val="F7F3EE"/>
          </a:solidFill>
          <a:ln w="9525">
            <a:solidFill>
              <a:srgbClr val="E6DED3"/>
            </a:solidFill>
          </a:ln>
          <a:effectLst/>
        </p:spPr>
        <p:txBody>
          <a:bodyPr rtlCol="0" anchor="ctr"/>
          <a:lstStyle/>
          <a:p/>
        </p:txBody>
      </p:sp>
      <p:sp>
        <p:nvSpPr>
          <p:cNvPr id="113" name="TextBox 112"/>
          <p:cNvSpPr txBox="1"/>
          <p:nvPr/>
        </p:nvSpPr>
        <p:spPr>
          <a:xfrm>
            <a:off x="7635240" y="1481328"/>
            <a:ext cx="1097280" cy="1078992"/>
          </a:xfrm>
          <a:prstGeom prst="rect">
            <a:avLst/>
          </a:prstGeom>
          <a:noFill/>
        </p:spPr>
        <p:txBody>
          <a:bodyPr wrap="square" anchor="ctr" lIns="0" rIns="0" tIns="0" bIns="0"/>
          <a:lstStyle/>
          <a:p>
            <a:pPr algn="ctr">
              <a:lnSpc>
                <a:spcPct val="108000"/>
              </a:lnSpc>
            </a:pPr>
            <a:r>
              <a:rPr sz="1100" b="0">
                <a:solidFill>
                  <a:srgbClr val="1F1A17"/>
                </a:solidFill>
                <a:latin typeface="Google Sans Flex"/>
                <a:ea typeface="Google Sans Flex"/>
                <a:cs typeface="Google Sans Flex"/>
                <a:sym typeface="Google Sans Flex"/>
              </a:rPr>
              <a:t>She warns her mother. She does not pay or travel</a:t>
            </a:r>
          </a:p>
        </p:txBody>
      </p:sp>
      <p:sp>
        <p:nvSpPr>
          <p:cNvPr id="114" name="TextBox 113"/>
          <p:cNvSpPr txBox="1"/>
          <p:nvPr/>
        </p:nvSpPr>
        <p:spPr>
          <a:xfrm>
            <a:off x="338328" y="2889504"/>
            <a:ext cx="8229600" cy="274320"/>
          </a:xfrm>
          <a:prstGeom prst="rect">
            <a:avLst/>
          </a:prstGeom>
          <a:noFill/>
        </p:spPr>
        <p:txBody>
          <a:bodyPr wrap="square" anchor="t" lIns="0" rIns="0" tIns="0" bIns="0"/>
          <a:lstStyle/>
          <a:p>
            <a:pPr algn="l">
              <a:lnSpc>
                <a:spcPct val="110000"/>
              </a:lnSpc>
            </a:pPr>
            <a:r>
              <a:rPr sz="1200" b="1">
                <a:solidFill>
                  <a:srgbClr val="1F1A17"/>
                </a:solidFill>
                <a:latin typeface="Google Sans Flex"/>
                <a:ea typeface="Google Sans Flex"/>
                <a:cs typeface="Google Sans Flex"/>
                <a:sym typeface="Google Sans Flex"/>
              </a:rPr>
              <a:t>The check flow, within a 15 second budget</a:t>
            </a:r>
          </a:p>
        </p:txBody>
      </p:sp>
      <p:sp>
        <p:nvSpPr>
          <p:cNvPr id="115" name="Rounded Rectangle 114"/>
          <p:cNvSpPr/>
          <p:nvPr/>
        </p:nvSpPr>
        <p:spPr>
          <a:xfrm>
            <a:off x="338328" y="3218688"/>
            <a:ext cx="1243584" cy="1188720"/>
          </a:xfrm>
          <a:prstGeom prst="roundRect">
            <a:avLst>
              <a:gd name="adj" fmla="val 6153"/>
            </a:avLst>
          </a:prstGeom>
          <a:solidFill>
            <a:srgbClr val="F7F3EE"/>
          </a:solidFill>
          <a:ln w="9525">
            <a:solidFill>
              <a:srgbClr val="E6DED3"/>
            </a:solidFill>
          </a:ln>
          <a:effectLst/>
        </p:spPr>
        <p:txBody>
          <a:bodyPr rtlCol="0" anchor="ctr"/>
          <a:lstStyle/>
          <a:p/>
        </p:txBody>
      </p:sp>
      <p:sp>
        <p:nvSpPr>
          <p:cNvPr id="116" name="TextBox 115"/>
          <p:cNvSpPr txBox="1"/>
          <p:nvPr/>
        </p:nvSpPr>
        <p:spPr>
          <a:xfrm>
            <a:off x="411480" y="3273552"/>
            <a:ext cx="1097280" cy="1078992"/>
          </a:xfrm>
          <a:prstGeom prst="rect">
            <a:avLst/>
          </a:prstGeom>
          <a:noFill/>
        </p:spPr>
        <p:txBody>
          <a:bodyPr wrap="square" anchor="ctr" lIns="0" rIns="0" tIns="0" bIns="0"/>
          <a:lstStyle/>
          <a:p>
            <a:pPr algn="ctr">
              <a:lnSpc>
                <a:spcPct val="108000"/>
              </a:lnSpc>
            </a:pPr>
            <a:r>
              <a:rPr sz="1100" b="0">
                <a:solidFill>
                  <a:srgbClr val="1F1A17"/>
                </a:solidFill>
                <a:latin typeface="Google Sans Flex"/>
                <a:ea typeface="Google Sans Flex"/>
                <a:cs typeface="Google Sans Flex"/>
                <a:sym typeface="Google Sans Flex"/>
              </a:rPr>
              <a:t>Text, link or screenshot, with the user's language</a:t>
            </a:r>
          </a:p>
        </p:txBody>
      </p:sp>
      <p:cxnSp>
        <p:nvCxnSpPr>
          <p:cNvPr id="117" name="Connector 116"/>
          <p:cNvCxnSpPr/>
          <p:nvPr/>
        </p:nvCxnSpPr>
        <p:spPr>
          <a:xfrm>
            <a:off x="1609344" y="3813048"/>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Rounded Rectangle 117"/>
          <p:cNvSpPr/>
          <p:nvPr/>
        </p:nvSpPr>
        <p:spPr>
          <a:xfrm>
            <a:off x="1783080" y="3218688"/>
            <a:ext cx="1243584" cy="1188720"/>
          </a:xfrm>
          <a:prstGeom prst="roundRect">
            <a:avLst>
              <a:gd name="adj" fmla="val 6153"/>
            </a:avLst>
          </a:prstGeom>
          <a:solidFill>
            <a:srgbClr val="1F1A17"/>
          </a:solidFill>
          <a:ln>
            <a:noFill/>
          </a:ln>
          <a:effectLst/>
        </p:spPr>
        <p:txBody>
          <a:bodyPr rtlCol="0" anchor="ctr"/>
          <a:lstStyle/>
          <a:p/>
        </p:txBody>
      </p:sp>
      <p:sp>
        <p:nvSpPr>
          <p:cNvPr id="119" name="TextBox 118"/>
          <p:cNvSpPr txBox="1"/>
          <p:nvPr/>
        </p:nvSpPr>
        <p:spPr>
          <a:xfrm>
            <a:off x="1856232" y="3273552"/>
            <a:ext cx="1097280" cy="1078992"/>
          </a:xfrm>
          <a:prstGeom prst="rect">
            <a:avLst/>
          </a:prstGeom>
          <a:noFill/>
        </p:spPr>
        <p:txBody>
          <a:bodyPr wrap="square" anchor="ctr" lIns="0" rIns="0" tIns="0" bIns="0"/>
          <a:lstStyle/>
          <a:p>
            <a:pPr algn="ctr">
              <a:lnSpc>
                <a:spcPct val="108000"/>
              </a:lnSpc>
            </a:pPr>
            <a:r>
              <a:rPr sz="1100" b="0">
                <a:solidFill>
                  <a:srgbClr val="FFFFFF"/>
                </a:solidFill>
                <a:latin typeface="Google Sans Flex"/>
                <a:ea typeface="Google Sans Flex"/>
                <a:cs typeface="Google Sans Flex"/>
                <a:sym typeface="Google Sans Flex"/>
              </a:rPr>
              <a:t>Gemini extraction: flags, quotes and links as JSON</a:t>
            </a:r>
          </a:p>
        </p:txBody>
      </p:sp>
      <p:cxnSp>
        <p:nvCxnSpPr>
          <p:cNvPr id="120" name="Connector 119"/>
          <p:cNvCxnSpPr/>
          <p:nvPr/>
        </p:nvCxnSpPr>
        <p:spPr>
          <a:xfrm>
            <a:off x="3054096" y="3813048"/>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1" name="Rounded Rectangle 120"/>
          <p:cNvSpPr/>
          <p:nvPr/>
        </p:nvSpPr>
        <p:spPr>
          <a:xfrm>
            <a:off x="3227832" y="3218688"/>
            <a:ext cx="1243584" cy="1188720"/>
          </a:xfrm>
          <a:prstGeom prst="roundRect">
            <a:avLst>
              <a:gd name="adj" fmla="val 6153"/>
            </a:avLst>
          </a:prstGeom>
          <a:solidFill>
            <a:srgbClr val="F7F3EE"/>
          </a:solidFill>
          <a:ln w="9525">
            <a:solidFill>
              <a:srgbClr val="E6DED3"/>
            </a:solidFill>
          </a:ln>
          <a:effectLst/>
        </p:spPr>
        <p:txBody>
          <a:bodyPr rtlCol="0" anchor="ctr"/>
          <a:lstStyle/>
          <a:p/>
        </p:txBody>
      </p:sp>
      <p:sp>
        <p:nvSpPr>
          <p:cNvPr id="122" name="TextBox 121"/>
          <p:cNvSpPr txBox="1"/>
          <p:nvPr/>
        </p:nvSpPr>
        <p:spPr>
          <a:xfrm>
            <a:off x="3300984" y="3273552"/>
            <a:ext cx="1097280" cy="1078992"/>
          </a:xfrm>
          <a:prstGeom prst="rect">
            <a:avLst/>
          </a:prstGeom>
          <a:noFill/>
        </p:spPr>
        <p:txBody>
          <a:bodyPr wrap="square" anchor="ctr" lIns="0" rIns="0" tIns="0" bIns="0"/>
          <a:lstStyle/>
          <a:p>
            <a:pPr algn="ctr">
              <a:lnSpc>
                <a:spcPct val="108000"/>
              </a:lnSpc>
            </a:pPr>
            <a:r>
              <a:rPr sz="1100" b="0">
                <a:solidFill>
                  <a:srgbClr val="1F1A17"/>
                </a:solidFill>
                <a:latin typeface="Google Sans Flex"/>
                <a:ea typeface="Google Sans Flex"/>
                <a:cs typeface="Google Sans Flex"/>
                <a:sym typeface="Google Sans Flex"/>
              </a:rPr>
              <a:t>In parallel: Search grounding, link checks, scam network</a:t>
            </a:r>
          </a:p>
        </p:txBody>
      </p:sp>
      <p:cxnSp>
        <p:nvCxnSpPr>
          <p:cNvPr id="123" name="Connector 122"/>
          <p:cNvCxnSpPr/>
          <p:nvPr/>
        </p:nvCxnSpPr>
        <p:spPr>
          <a:xfrm>
            <a:off x="4498848" y="3813048"/>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4672584" y="3218688"/>
            <a:ext cx="1243584" cy="1188720"/>
          </a:xfrm>
          <a:prstGeom prst="roundRect">
            <a:avLst>
              <a:gd name="adj" fmla="val 6153"/>
            </a:avLst>
          </a:prstGeom>
          <a:solidFill>
            <a:srgbClr val="F7F3EE"/>
          </a:solidFill>
          <a:ln w="9525">
            <a:solidFill>
              <a:srgbClr val="E6DED3"/>
            </a:solidFill>
          </a:ln>
          <a:effectLst/>
        </p:spPr>
        <p:txBody>
          <a:bodyPr rtlCol="0" anchor="ctr"/>
          <a:lstStyle/>
          <a:p/>
        </p:txBody>
      </p:sp>
      <p:sp>
        <p:nvSpPr>
          <p:cNvPr id="125" name="TextBox 124"/>
          <p:cNvSpPr txBox="1"/>
          <p:nvPr/>
        </p:nvSpPr>
        <p:spPr>
          <a:xfrm>
            <a:off x="4745736" y="3273552"/>
            <a:ext cx="1097280" cy="1078992"/>
          </a:xfrm>
          <a:prstGeom prst="rect">
            <a:avLst/>
          </a:prstGeom>
          <a:noFill/>
        </p:spPr>
        <p:txBody>
          <a:bodyPr wrap="square" anchor="ctr" lIns="0" rIns="0" tIns="0" bIns="0"/>
          <a:lstStyle/>
          <a:p>
            <a:pPr algn="ctr">
              <a:lnSpc>
                <a:spcPct val="108000"/>
              </a:lnSpc>
            </a:pPr>
            <a:r>
              <a:rPr sz="1100" b="0">
                <a:solidFill>
                  <a:srgbClr val="1F1A17"/>
                </a:solidFill>
                <a:latin typeface="Google Sans Flex"/>
                <a:ea typeface="Google Sans Flex"/>
                <a:cs typeface="Google Sans Flex"/>
                <a:sym typeface="Google Sans Flex"/>
              </a:rPr>
              <a:t>Likelihood guard rewrites certainty words</a:t>
            </a:r>
          </a:p>
        </p:txBody>
      </p:sp>
      <p:cxnSp>
        <p:nvCxnSpPr>
          <p:cNvPr id="126" name="Connector 125"/>
          <p:cNvCxnSpPr/>
          <p:nvPr/>
        </p:nvCxnSpPr>
        <p:spPr>
          <a:xfrm>
            <a:off x="5943600" y="3813048"/>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6117336" y="3218688"/>
            <a:ext cx="1243584" cy="1188720"/>
          </a:xfrm>
          <a:prstGeom prst="roundRect">
            <a:avLst>
              <a:gd name="adj" fmla="val 6153"/>
            </a:avLst>
          </a:prstGeom>
          <a:solidFill>
            <a:srgbClr val="1F1A17"/>
          </a:solidFill>
          <a:ln>
            <a:noFill/>
          </a:ln>
          <a:effectLst/>
        </p:spPr>
        <p:txBody>
          <a:bodyPr rtlCol="0" anchor="ctr"/>
          <a:lstStyle/>
          <a:p/>
        </p:txBody>
      </p:sp>
      <p:sp>
        <p:nvSpPr>
          <p:cNvPr id="128" name="TextBox 127"/>
          <p:cNvSpPr txBox="1"/>
          <p:nvPr/>
        </p:nvSpPr>
        <p:spPr>
          <a:xfrm>
            <a:off x="6190488" y="3273552"/>
            <a:ext cx="1097280" cy="1078992"/>
          </a:xfrm>
          <a:prstGeom prst="rect">
            <a:avLst/>
          </a:prstGeom>
          <a:noFill/>
        </p:spPr>
        <p:txBody>
          <a:bodyPr wrap="square" anchor="ctr" lIns="0" rIns="0" tIns="0" bIns="0"/>
          <a:lstStyle/>
          <a:p>
            <a:pPr algn="ctr">
              <a:lnSpc>
                <a:spcPct val="108000"/>
              </a:lnSpc>
            </a:pPr>
            <a:r>
              <a:rPr sz="1100" b="0">
                <a:solidFill>
                  <a:srgbClr val="FFFFFF"/>
                </a:solidFill>
                <a:latin typeface="Google Sans Flex"/>
                <a:ea typeface="Google Sans Flex"/>
                <a:cs typeface="Google Sans Flex"/>
                <a:sym typeface="Google Sans Flex"/>
              </a:rPr>
              <a:t>Rules engine sets the score and the verdict</a:t>
            </a:r>
          </a:p>
        </p:txBody>
      </p:sp>
      <p:cxnSp>
        <p:nvCxnSpPr>
          <p:cNvPr id="129" name="Connector 128"/>
          <p:cNvCxnSpPr/>
          <p:nvPr/>
        </p:nvCxnSpPr>
        <p:spPr>
          <a:xfrm>
            <a:off x="7388352" y="3813048"/>
            <a:ext cx="146304" cy="0"/>
          </a:xfrm>
          <a:prstGeom prst="line">
            <a:avLst/>
          </a:prstGeom>
          <a:ln w="19050">
            <a:solidFill>
              <a:srgbClr val="1F1A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Rounded Rectangle 129"/>
          <p:cNvSpPr/>
          <p:nvPr/>
        </p:nvSpPr>
        <p:spPr>
          <a:xfrm>
            <a:off x="7562088" y="3218688"/>
            <a:ext cx="1243584" cy="1188720"/>
          </a:xfrm>
          <a:prstGeom prst="roundRect">
            <a:avLst>
              <a:gd name="adj" fmla="val 6153"/>
            </a:avLst>
          </a:prstGeom>
          <a:solidFill>
            <a:srgbClr val="F7F3EE"/>
          </a:solidFill>
          <a:ln w="9525">
            <a:solidFill>
              <a:srgbClr val="E6DED3"/>
            </a:solidFill>
          </a:ln>
          <a:effectLst/>
        </p:spPr>
        <p:txBody>
          <a:bodyPr rtlCol="0" anchor="ctr"/>
          <a:lstStyle/>
          <a:p/>
        </p:txBody>
      </p:sp>
      <p:sp>
        <p:nvSpPr>
          <p:cNvPr id="131" name="TextBox 130"/>
          <p:cNvSpPr txBox="1"/>
          <p:nvPr/>
        </p:nvSpPr>
        <p:spPr>
          <a:xfrm>
            <a:off x="7635240" y="3273552"/>
            <a:ext cx="1097280" cy="1078992"/>
          </a:xfrm>
          <a:prstGeom prst="rect">
            <a:avLst/>
          </a:prstGeom>
          <a:noFill/>
        </p:spPr>
        <p:txBody>
          <a:bodyPr wrap="square" anchor="ctr" lIns="0" rIns="0" tIns="0" bIns="0"/>
          <a:lstStyle/>
          <a:p>
            <a:pPr algn="ctr">
              <a:lnSpc>
                <a:spcPct val="108000"/>
              </a:lnSpc>
            </a:pPr>
            <a:r>
              <a:rPr sz="1100" b="0">
                <a:solidFill>
                  <a:srgbClr val="1F1A17"/>
                </a:solidFill>
                <a:latin typeface="Google Sans Flex"/>
                <a:ea typeface="Google Sans Flex"/>
                <a:cs typeface="Google Sans Flex"/>
                <a:sym typeface="Google Sans Flex"/>
              </a:rPr>
              <a:t>Report, spoken warning (TTS) and voice chat (Live)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pic>
        <p:nvPicPr>
          <p:cNvPr id="104" name="Picture 103" descr="mock-home-off.png"/>
          <p:cNvPicPr>
            <a:picLocks noChangeAspect="1"/>
          </p:cNvPicPr>
          <p:nvPr/>
        </p:nvPicPr>
        <p:blipFill>
          <a:blip r:embed="rId5"/>
          <a:stretch>
            <a:fillRect/>
          </a:stretch>
        </p:blipFill>
        <p:spPr>
          <a:xfrm>
            <a:off x="461495" y="1115568"/>
            <a:ext cx="1822704" cy="3154680"/>
          </a:xfrm>
          <a:prstGeom prst="rect">
            <a:avLst/>
          </a:prstGeom>
          <a:ln w="9525">
            <a:solidFill>
              <a:srgbClr val="E6DED3"/>
            </a:solidFill>
          </a:ln>
        </p:spPr>
      </p:pic>
      <p:sp>
        <p:nvSpPr>
          <p:cNvPr id="105" name="TextBox 104"/>
          <p:cNvSpPr txBox="1"/>
          <p:nvPr/>
        </p:nvSpPr>
        <p:spPr>
          <a:xfrm>
            <a:off x="370055" y="4325112"/>
            <a:ext cx="2005584" cy="274320"/>
          </a:xfrm>
          <a:prstGeom prst="rect">
            <a:avLst/>
          </a:prstGeom>
          <a:noFill/>
        </p:spPr>
        <p:txBody>
          <a:bodyPr wrap="square" anchor="t" lIns="0" rIns="0" tIns="0" bIns="0"/>
          <a:lstStyle/>
          <a:p>
            <a:pPr algn="ctr">
              <a:lnSpc>
                <a:spcPct val="110000"/>
              </a:lnSpc>
            </a:pPr>
            <a:r>
              <a:rPr sz="1050" b="1">
                <a:solidFill>
                  <a:srgbClr val="1F1A17"/>
                </a:solidFill>
                <a:latin typeface="Google Sans Flex"/>
                <a:ea typeface="Google Sans Flex"/>
                <a:cs typeface="Google Sans Flex"/>
                <a:sym typeface="Google Sans Flex"/>
              </a:rPr>
              <a:t>Home, shield off</a:t>
            </a:r>
          </a:p>
        </p:txBody>
      </p:sp>
      <p:pic>
        <p:nvPicPr>
          <p:cNvPr id="106" name="Picture 105" descr="mock-home-on.png"/>
          <p:cNvPicPr>
            <a:picLocks noChangeAspect="1"/>
          </p:cNvPicPr>
          <p:nvPr/>
        </p:nvPicPr>
        <p:blipFill>
          <a:blip r:embed="rId6"/>
          <a:stretch>
            <a:fillRect/>
          </a:stretch>
        </p:blipFill>
        <p:spPr>
          <a:xfrm>
            <a:off x="2604239" y="1115568"/>
            <a:ext cx="1822704" cy="3154680"/>
          </a:xfrm>
          <a:prstGeom prst="rect">
            <a:avLst/>
          </a:prstGeom>
          <a:ln w="9525">
            <a:solidFill>
              <a:srgbClr val="E6DED3"/>
            </a:solidFill>
          </a:ln>
        </p:spPr>
      </p:pic>
      <p:sp>
        <p:nvSpPr>
          <p:cNvPr id="107" name="TextBox 106"/>
          <p:cNvSpPr txBox="1"/>
          <p:nvPr/>
        </p:nvSpPr>
        <p:spPr>
          <a:xfrm>
            <a:off x="2512799" y="4325112"/>
            <a:ext cx="2005584" cy="274320"/>
          </a:xfrm>
          <a:prstGeom prst="rect">
            <a:avLst/>
          </a:prstGeom>
          <a:noFill/>
        </p:spPr>
        <p:txBody>
          <a:bodyPr wrap="square" anchor="t" lIns="0" rIns="0" tIns="0" bIns="0"/>
          <a:lstStyle/>
          <a:p>
            <a:pPr algn="ctr">
              <a:lnSpc>
                <a:spcPct val="110000"/>
              </a:lnSpc>
            </a:pPr>
            <a:r>
              <a:rPr sz="1050" b="1">
                <a:solidFill>
                  <a:srgbClr val="1F1A17"/>
                </a:solidFill>
                <a:latin typeface="Google Sans Flex"/>
                <a:ea typeface="Google Sans Flex"/>
                <a:cs typeface="Google Sans Flex"/>
                <a:sym typeface="Google Sans Flex"/>
              </a:rPr>
              <a:t>Home, shield on</a:t>
            </a:r>
          </a:p>
        </p:txBody>
      </p:sp>
      <p:pic>
        <p:nvPicPr>
          <p:cNvPr id="108" name="Picture 107" descr="mock-check-message.png"/>
          <p:cNvPicPr>
            <a:picLocks noChangeAspect="1"/>
          </p:cNvPicPr>
          <p:nvPr/>
        </p:nvPicPr>
        <p:blipFill>
          <a:blip r:embed="rId7"/>
          <a:stretch>
            <a:fillRect/>
          </a:stretch>
        </p:blipFill>
        <p:spPr>
          <a:xfrm>
            <a:off x="4746983" y="1115568"/>
            <a:ext cx="1864129" cy="3154680"/>
          </a:xfrm>
          <a:prstGeom prst="rect">
            <a:avLst/>
          </a:prstGeom>
          <a:ln w="9525">
            <a:solidFill>
              <a:srgbClr val="E6DED3"/>
            </a:solidFill>
          </a:ln>
        </p:spPr>
      </p:pic>
      <p:sp>
        <p:nvSpPr>
          <p:cNvPr id="109" name="TextBox 108"/>
          <p:cNvSpPr txBox="1"/>
          <p:nvPr/>
        </p:nvSpPr>
        <p:spPr>
          <a:xfrm>
            <a:off x="4655543" y="4325112"/>
            <a:ext cx="2047009" cy="274320"/>
          </a:xfrm>
          <a:prstGeom prst="rect">
            <a:avLst/>
          </a:prstGeom>
          <a:noFill/>
        </p:spPr>
        <p:txBody>
          <a:bodyPr wrap="square" anchor="t" lIns="0" rIns="0" tIns="0" bIns="0"/>
          <a:lstStyle/>
          <a:p>
            <a:pPr algn="ctr">
              <a:lnSpc>
                <a:spcPct val="110000"/>
              </a:lnSpc>
            </a:pPr>
            <a:r>
              <a:rPr sz="1050" b="1">
                <a:solidFill>
                  <a:srgbClr val="1F1A17"/>
                </a:solidFill>
                <a:latin typeface="Google Sans Flex"/>
                <a:ea typeface="Google Sans Flex"/>
                <a:cs typeface="Google Sans Flex"/>
                <a:sym typeface="Google Sans Flex"/>
              </a:rPr>
              <a:t>Check, message</a:t>
            </a:r>
          </a:p>
        </p:txBody>
      </p:sp>
      <p:pic>
        <p:nvPicPr>
          <p:cNvPr id="110" name="Picture 109" descr="mock-check-job.png"/>
          <p:cNvPicPr>
            <a:picLocks noChangeAspect="1"/>
          </p:cNvPicPr>
          <p:nvPr/>
        </p:nvPicPr>
        <p:blipFill>
          <a:blip r:embed="rId8"/>
          <a:stretch>
            <a:fillRect/>
          </a:stretch>
        </p:blipFill>
        <p:spPr>
          <a:xfrm>
            <a:off x="6931152" y="1115568"/>
            <a:ext cx="1751352" cy="3154680"/>
          </a:xfrm>
          <a:prstGeom prst="rect">
            <a:avLst/>
          </a:prstGeom>
          <a:ln w="9525">
            <a:solidFill>
              <a:srgbClr val="E6DED3"/>
            </a:solidFill>
          </a:ln>
        </p:spPr>
      </p:pic>
      <p:sp>
        <p:nvSpPr>
          <p:cNvPr id="111" name="TextBox 110"/>
          <p:cNvSpPr txBox="1"/>
          <p:nvPr/>
        </p:nvSpPr>
        <p:spPr>
          <a:xfrm>
            <a:off x="6839712" y="4325112"/>
            <a:ext cx="1934232" cy="274320"/>
          </a:xfrm>
          <a:prstGeom prst="rect">
            <a:avLst/>
          </a:prstGeom>
          <a:noFill/>
        </p:spPr>
        <p:txBody>
          <a:bodyPr wrap="square" anchor="t" lIns="0" rIns="0" tIns="0" bIns="0"/>
          <a:lstStyle/>
          <a:p>
            <a:pPr algn="ctr">
              <a:lnSpc>
                <a:spcPct val="110000"/>
              </a:lnSpc>
            </a:pPr>
            <a:r>
              <a:rPr sz="1050" b="1">
                <a:solidFill>
                  <a:srgbClr val="1F1A17"/>
                </a:solidFill>
                <a:latin typeface="Google Sans Flex"/>
                <a:ea typeface="Google Sans Flex"/>
                <a:cs typeface="Google Sans Flex"/>
                <a:sym typeface="Google Sans Flex"/>
              </a:rPr>
              <a:t>Check, job offer filled</a:t>
            </a:r>
          </a:p>
        </p:txBody>
      </p:sp>
      <p:sp>
        <p:nvSpPr>
          <p:cNvPr id="112" name="TextBox 111"/>
          <p:cNvSpPr txBox="1"/>
          <p:nvPr/>
        </p:nvSpPr>
        <p:spPr>
          <a:xfrm>
            <a:off x="338328" y="4681728"/>
            <a:ext cx="8467344" cy="274320"/>
          </a:xfrm>
          <a:prstGeom prst="rect">
            <a:avLst/>
          </a:prstGeom>
          <a:noFill/>
        </p:spPr>
        <p:txBody>
          <a:bodyPr wrap="square" anchor="t" lIns="0" rIns="0" tIns="0" bIns="0"/>
          <a:lstStyle/>
          <a:p>
            <a:pPr algn="l">
              <a:lnSpc>
                <a:spcPct val="110000"/>
              </a:lnSpc>
            </a:pPr>
            <a:r>
              <a:rPr sz="850" b="0">
                <a:solidFill>
                  <a:srgbClr val="6B635C"/>
                </a:solidFill>
                <a:latin typeface="Google Sans Flex"/>
                <a:ea typeface="Google Sans Flex"/>
                <a:cs typeface="Google Sans Flex"/>
                <a:sym typeface="Google Sans Flex"/>
              </a:rPr>
              <a:t>Approved design mockups for Home (one big shield button) and the Check v3 page with kind chips, in English. The logo row and the footer line are cropped.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pic>
        <p:nvPicPr>
          <p:cNvPr id="112" name="Picture 111" descr="arch.png"/>
          <p:cNvPicPr>
            <a:picLocks noChangeAspect="1"/>
          </p:cNvPicPr>
          <p:nvPr/>
        </p:nvPicPr>
        <p:blipFill>
          <a:blip r:embed="rId5"/>
          <a:stretch>
            <a:fillRect/>
          </a:stretch>
        </p:blipFill>
        <p:spPr>
          <a:xfrm>
            <a:off x="384048" y="1115568"/>
            <a:ext cx="8366760" cy="2788920"/>
          </a:xfrm>
          <a:prstGeom prst="rect">
            <a:avLst/>
          </a:prstGeom>
        </p:spPr>
      </p:pic>
      <p:sp>
        <p:nvSpPr>
          <p:cNvPr id="113" name="Rounded Rectangle 112"/>
          <p:cNvSpPr/>
          <p:nvPr/>
        </p:nvSpPr>
        <p:spPr>
          <a:xfrm>
            <a:off x="338328" y="4023360"/>
            <a:ext cx="8467344" cy="731520"/>
          </a:xfrm>
          <a:prstGeom prst="roundRect">
            <a:avLst>
              <a:gd name="adj" fmla="val 10000"/>
            </a:avLst>
          </a:prstGeom>
          <a:solidFill>
            <a:srgbClr val="F7F3EE"/>
          </a:solidFill>
          <a:ln w="9525">
            <a:solidFill>
              <a:srgbClr val="E6DED3"/>
            </a:solidFill>
          </a:ln>
          <a:effectLst/>
        </p:spPr>
        <p:txBody>
          <a:bodyPr rtlCol="0" anchor="ctr"/>
          <a:lstStyle/>
          <a:p/>
        </p:txBody>
      </p:sp>
      <p:sp>
        <p:nvSpPr>
          <p:cNvPr id="114" name="TextBox 113"/>
          <p:cNvSpPr txBox="1"/>
          <p:nvPr/>
        </p:nvSpPr>
        <p:spPr>
          <a:xfrm>
            <a:off x="502920" y="4114800"/>
            <a:ext cx="8138160" cy="594360"/>
          </a:xfrm>
          <a:prstGeom prst="rect">
            <a:avLst/>
          </a:prstGeom>
          <a:noFill/>
        </p:spPr>
        <p:txBody>
          <a:bodyPr wrap="square" anchor="t" lIns="0" rIns="0" tIns="0" bIns="0"/>
          <a:lstStyle/>
          <a:p>
            <a:pPr algn="l">
              <a:lnSpc>
                <a:spcPct val="110000"/>
              </a:lnSpc>
            </a:pPr>
            <a:r>
              <a:rPr sz="1100" b="1">
                <a:solidFill>
                  <a:srgbClr val="1F1A17"/>
                </a:solidFill>
                <a:latin typeface="Google Sans Flex"/>
                <a:ea typeface="Google Sans Flex"/>
                <a:cs typeface="Google Sans Flex"/>
                <a:sym typeface="Google Sans Flex"/>
              </a:rPr>
              <a:t>Hosting</a:t>
            </a:r>
          </a:p>
          <a:p>
            <a:pPr algn="l">
              <a:lnSpc>
                <a:spcPct val="110000"/>
              </a:lnSpc>
              <a:spcBef>
                <a:spcPts val="200"/>
              </a:spcBef>
            </a:pPr>
            <a:r>
              <a:rPr sz="1100" b="0">
                <a:solidFill>
                  <a:srgbClr val="57504A"/>
                </a:solidFill>
                <a:latin typeface="Google Sans Flex"/>
                <a:ea typeface="Google Sans Flex"/>
                <a:cs typeface="Google Sans Flex"/>
                <a:sym typeface="Google Sans Flex"/>
              </a:rPr>
              <a:t>API on Cloud Run (asia-southeast1, Singapore). Firebase for sign-in, data, web hosting and test builds.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graphicFrame>
        <p:nvGraphicFramePr>
          <p:cNvPr id="120" name="Table 119"/>
          <p:cNvGraphicFramePr>
            <a:graphicFrameLocks noGrp="1"/>
          </p:cNvGraphicFramePr>
          <p:nvPr/>
        </p:nvGraphicFramePr>
        <p:xfrm>
          <a:off x="338328" y="1097280"/>
          <a:ext cx="8467344" cy="3621024"/>
        </p:xfrm>
        <a:graphic>
          <a:graphicData uri="http://schemas.openxmlformats.org/drawingml/2006/table">
            <a:tbl>
              <a:tblPr firstRow="0" bandRow="0">
                <a:tableStyleId>{5940675A-B579-460E-94D1-54222C63F5DA}</a:tableStyleId>
              </a:tblPr>
              <a:tblGrid>
                <a:gridCol w="3108960"/>
                <a:gridCol w="5358384"/>
              </a:tblGrid>
              <a:tr h="301752">
                <a:tc>
                  <a:txBody>
                    <a:bodyPr/>
                    <a:lstStyle/>
                    <a:p>
                      <a:r>
                        <a:rPr sz="1050" b="1">
                          <a:solidFill>
                            <a:srgbClr val="FFFFFF"/>
                          </a:solidFill>
                          <a:latin typeface="Google Sans Flex"/>
                          <a:ea typeface="Google Sans Flex"/>
                          <a:cs typeface="Google Sans Flex"/>
                          <a:sym typeface="Google Sans Flex"/>
                        </a:rPr>
                        <a:t>Technology</a:t>
                      </a:r>
                    </a:p>
                  </a:txBody>
                  <a:tcPr marL="91440" marR="91440" marT="27432" marB="27432" anchor="ctr">
                    <a:solidFill>
                      <a:srgbClr val="1F1A17"/>
                    </a:solidFill>
                  </a:tcPr>
                </a:tc>
                <a:tc>
                  <a:txBody>
                    <a:bodyPr/>
                    <a:lstStyle/>
                    <a:p>
                      <a:r>
                        <a:rPr sz="1050" b="1">
                          <a:solidFill>
                            <a:srgbClr val="FFFFFF"/>
                          </a:solidFill>
                          <a:latin typeface="Google Sans Flex"/>
                          <a:ea typeface="Google Sans Flex"/>
                          <a:cs typeface="Google Sans Flex"/>
                          <a:sym typeface="Google Sans Flex"/>
                        </a:rPr>
                        <a:t>Use in Kakwe</a:t>
                      </a:r>
                    </a:p>
                  </a:txBody>
                  <a:tcPr marL="91440" marR="91440" marT="27432" marB="27432" anchor="ctr">
                    <a:solidFill>
                      <a:srgbClr val="1F1A17"/>
                    </a:solidFill>
                  </a:tcPr>
                </a:tc>
              </a:tr>
              <a:tr h="301752">
                <a:tc>
                  <a:txBody>
                    <a:bodyPr/>
                    <a:lstStyle/>
                    <a:p>
                      <a:r>
                        <a:rPr sz="1050" b="1">
                          <a:solidFill>
                            <a:srgbClr val="1F1A17"/>
                          </a:solidFill>
                          <a:latin typeface="Google Sans Flex"/>
                          <a:ea typeface="Google Sans Flex"/>
                          <a:cs typeface="Google Sans Flex"/>
                          <a:sym typeface="Google Sans Flex"/>
                        </a:rPr>
                        <a:t>Gemini API, gemini-3.5-flash-lite</a:t>
                      </a:r>
                    </a:p>
                  </a:txBody>
                  <a:tcPr marL="91440" marR="91440" marT="27432" marB="27432" anchor="ctr">
                    <a:solidFill>
                      <a:srgbClr val="F7F3EE"/>
                    </a:solidFill>
                  </a:tcPr>
                </a:tc>
                <a:tc>
                  <a:txBody>
                    <a:bodyPr/>
                    <a:lstStyle/>
                    <a:p>
                      <a:r>
                        <a:rPr sz="1050" b="0">
                          <a:solidFill>
                            <a:srgbClr val="57504A"/>
                          </a:solidFill>
                          <a:latin typeface="Google Sans Flex"/>
                          <a:ea typeface="Google Sans Flex"/>
                          <a:cs typeface="Google Sans Flex"/>
                          <a:sym typeface="Google Sans Flex"/>
                        </a:rPr>
                        <a:t>Multimodal extraction with a JSON response schema; Job Shield fact extraction</a:t>
                      </a:r>
                    </a:p>
                  </a:txBody>
                  <a:tcPr marL="91440" marR="91440" marT="27432" marB="27432" anchor="ctr">
                    <a:solidFill>
                      <a:srgbClr val="F7F3EE"/>
                    </a:solidFill>
                  </a:tcPr>
                </a:tc>
              </a:tr>
              <a:tr h="301752">
                <a:tc>
                  <a:txBody>
                    <a:bodyPr/>
                    <a:lstStyle/>
                    <a:p>
                      <a:r>
                        <a:rPr sz="1050" b="1">
                          <a:solidFill>
                            <a:srgbClr val="1F1A17"/>
                          </a:solidFill>
                          <a:latin typeface="Google Sans Flex"/>
                          <a:ea typeface="Google Sans Flex"/>
                          <a:cs typeface="Google Sans Flex"/>
                          <a:sym typeface="Google Sans Flex"/>
                        </a:rPr>
                        <a:t>Grounding with Google Search</a:t>
                      </a:r>
                    </a:p>
                  </a:txBody>
                  <a:tcPr marL="91440" marR="91440" marT="27432" marB="27432" anchor="ctr">
                    <a:solidFill>
                      <a:srgbClr val="FFFFFF"/>
                    </a:solidFill>
                  </a:tcPr>
                </a:tc>
                <a:tc>
                  <a:txBody>
                    <a:bodyPr/>
                    <a:lstStyle/>
                    <a:p>
                      <a:r>
                        <a:rPr sz="1050" b="0">
                          <a:solidFill>
                            <a:srgbClr val="57504A"/>
                          </a:solidFill>
                          <a:latin typeface="Google Sans Flex"/>
                          <a:ea typeface="Google Sans Flex"/>
                          <a:cs typeface="Google Sans Flex"/>
                          <a:sym typeface="Google Sans Flex"/>
                        </a:rPr>
                        <a:t>Checks that named agencies and companies exist</a:t>
                      </a:r>
                    </a:p>
                  </a:txBody>
                  <a:tcPr marL="91440" marR="91440" marT="27432" marB="27432" anchor="ctr">
                    <a:solidFill>
                      <a:srgbClr val="FFFFFF"/>
                    </a:solidFill>
                  </a:tcPr>
                </a:tc>
              </a:tr>
              <a:tr h="301752">
                <a:tc>
                  <a:txBody>
                    <a:bodyPr/>
                    <a:lstStyle/>
                    <a:p>
                      <a:r>
                        <a:rPr sz="1050" b="1">
                          <a:solidFill>
                            <a:srgbClr val="1F1A17"/>
                          </a:solidFill>
                          <a:latin typeface="Google Sans Flex"/>
                          <a:ea typeface="Google Sans Flex"/>
                          <a:cs typeface="Google Sans Flex"/>
                          <a:sym typeface="Google Sans Flex"/>
                        </a:rPr>
                        <a:t>Gemini TTS, gemini-3.8-flash-tts</a:t>
                      </a:r>
                    </a:p>
                  </a:txBody>
                  <a:tcPr marL="91440" marR="91440" marT="27432" marB="27432" anchor="ctr">
                    <a:solidFill>
                      <a:srgbClr val="F7F3EE"/>
                    </a:solidFill>
                  </a:tcPr>
                </a:tc>
                <a:tc>
                  <a:txBody>
                    <a:bodyPr/>
                    <a:lstStyle/>
                    <a:p>
                      <a:r>
                        <a:rPr sz="1050" b="0">
                          <a:solidFill>
                            <a:srgbClr val="57504A"/>
                          </a:solidFill>
                          <a:latin typeface="Google Sans Flex"/>
                          <a:ea typeface="Google Sans Flex"/>
                          <a:cs typeface="Google Sans Flex"/>
                          <a:sym typeface="Google Sans Flex"/>
                        </a:rPr>
                        <a:t>Spoken warnings in five languages</a:t>
                      </a:r>
                    </a:p>
                  </a:txBody>
                  <a:tcPr marL="91440" marR="91440" marT="27432" marB="27432" anchor="ctr">
                    <a:solidFill>
                      <a:srgbClr val="F7F3EE"/>
                    </a:solidFill>
                  </a:tcPr>
                </a:tc>
              </a:tr>
              <a:tr h="301752">
                <a:tc>
                  <a:txBody>
                    <a:bodyPr/>
                    <a:lstStyle/>
                    <a:p>
                      <a:r>
                        <a:rPr sz="1050" b="1">
                          <a:solidFill>
                            <a:srgbClr val="1F1A17"/>
                          </a:solidFill>
                          <a:latin typeface="Google Sans Flex"/>
                          <a:ea typeface="Google Sans Flex"/>
                          <a:cs typeface="Google Sans Flex"/>
                          <a:sym typeface="Google Sans Flex"/>
                        </a:rPr>
                        <a:t>Gemini Live API, gemini-3.8-live</a:t>
                      </a:r>
                    </a:p>
                  </a:txBody>
                  <a:tcPr marL="91440" marR="91440" marT="27432" marB="27432" anchor="ctr">
                    <a:solidFill>
                      <a:srgbClr val="FFFFFF"/>
                    </a:solidFill>
                  </a:tcPr>
                </a:tc>
                <a:tc>
                  <a:txBody>
                    <a:bodyPr/>
                    <a:lstStyle/>
                    <a:p>
                      <a:r>
                        <a:rPr sz="1050" b="0">
                          <a:solidFill>
                            <a:srgbClr val="57504A"/>
                          </a:solidFill>
                          <a:latin typeface="Google Sans Flex"/>
                          <a:ea typeface="Google Sans Flex"/>
                          <a:cs typeface="Google Sans Flex"/>
                          <a:sym typeface="Google Sans Flex"/>
                        </a:rPr>
                        <a:t>The voice companion, Pyit Taing Htaung</a:t>
                      </a:r>
                    </a:p>
                  </a:txBody>
                  <a:tcPr marL="91440" marR="91440" marT="27432" marB="27432" anchor="ctr">
                    <a:solidFill>
                      <a:srgbClr val="FFFFFF"/>
                    </a:solidFill>
                  </a:tcPr>
                </a:tc>
              </a:tr>
              <a:tr h="301752">
                <a:tc>
                  <a:txBody>
                    <a:bodyPr/>
                    <a:lstStyle/>
                    <a:p>
                      <a:r>
                        <a:rPr sz="1050" b="1">
                          <a:solidFill>
                            <a:srgbClr val="1F1A17"/>
                          </a:solidFill>
                          <a:latin typeface="Google Sans Flex"/>
                          <a:ea typeface="Google Sans Flex"/>
                          <a:cs typeface="Google Sans Flex"/>
                          <a:sym typeface="Google Sans Flex"/>
                        </a:rPr>
                        <a:t>Web Risk API, Safe Browsing API</a:t>
                      </a:r>
                    </a:p>
                  </a:txBody>
                  <a:tcPr marL="91440" marR="91440" marT="27432" marB="27432" anchor="ctr">
                    <a:solidFill>
                      <a:srgbClr val="F7F3EE"/>
                    </a:solidFill>
                  </a:tcPr>
                </a:tc>
                <a:tc>
                  <a:txBody>
                    <a:bodyPr/>
                    <a:lstStyle/>
                    <a:p>
                      <a:r>
                        <a:rPr sz="1050" b="0">
                          <a:solidFill>
                            <a:srgbClr val="57504A"/>
                          </a:solidFill>
                          <a:latin typeface="Google Sans Flex"/>
                          <a:ea typeface="Google Sans Flex"/>
                          <a:cs typeface="Google Sans Flex"/>
                          <a:sym typeface="Google Sans Flex"/>
                        </a:rPr>
                        <a:t>Known malicious links</a:t>
                      </a:r>
                    </a:p>
                  </a:txBody>
                  <a:tcPr marL="91440" marR="91440" marT="27432" marB="27432" anchor="ctr">
                    <a:solidFill>
                      <a:srgbClr val="F7F3EE"/>
                    </a:solidFill>
                  </a:tcPr>
                </a:tc>
              </a:tr>
              <a:tr h="301752">
                <a:tc>
                  <a:txBody>
                    <a:bodyPr/>
                    <a:lstStyle/>
                    <a:p>
                      <a:r>
                        <a:rPr sz="1050" b="1">
                          <a:solidFill>
                            <a:srgbClr val="1F1A17"/>
                          </a:solidFill>
                          <a:latin typeface="Google Sans Flex"/>
                          <a:ea typeface="Google Sans Flex"/>
                          <a:cs typeface="Google Sans Flex"/>
                          <a:sym typeface="Google Sans Flex"/>
                        </a:rPr>
                        <a:t>Firebase Auth, Firestore</a:t>
                      </a:r>
                    </a:p>
                  </a:txBody>
                  <a:tcPr marL="91440" marR="91440" marT="27432" marB="27432" anchor="ctr">
                    <a:solidFill>
                      <a:srgbClr val="FFFFFF"/>
                    </a:solidFill>
                  </a:tcPr>
                </a:tc>
                <a:tc>
                  <a:txBody>
                    <a:bodyPr/>
                    <a:lstStyle/>
                    <a:p>
                      <a:r>
                        <a:rPr sz="1050" b="0">
                          <a:solidFill>
                            <a:srgbClr val="57504A"/>
                          </a:solidFill>
                          <a:latin typeface="Google Sans Flex"/>
                          <a:ea typeface="Google Sans Flex"/>
                          <a:cs typeface="Google Sans Flex"/>
                          <a:sym typeface="Google Sans Flex"/>
                        </a:rPr>
                        <a:t>Anonymous and Google sign-in, synced history and contacts, the scam network</a:t>
                      </a:r>
                    </a:p>
                  </a:txBody>
                  <a:tcPr marL="91440" marR="91440" marT="27432" marB="27432" anchor="ctr">
                    <a:solidFill>
                      <a:srgbClr val="FFFFFF"/>
                    </a:solidFill>
                  </a:tcPr>
                </a:tc>
              </a:tr>
              <a:tr h="301752">
                <a:tc>
                  <a:txBody>
                    <a:bodyPr/>
                    <a:lstStyle/>
                    <a:p>
                      <a:r>
                        <a:rPr sz="1050" b="1">
                          <a:solidFill>
                            <a:srgbClr val="1F1A17"/>
                          </a:solidFill>
                          <a:latin typeface="Google Sans Flex"/>
                          <a:ea typeface="Google Sans Flex"/>
                          <a:cs typeface="Google Sans Flex"/>
                          <a:sym typeface="Google Sans Flex"/>
                        </a:rPr>
                        <a:t>Firebase Hosting, App Distribution</a:t>
                      </a:r>
                    </a:p>
                  </a:txBody>
                  <a:tcPr marL="91440" marR="91440" marT="27432" marB="27432" anchor="ctr">
                    <a:solidFill>
                      <a:srgbClr val="F7F3EE"/>
                    </a:solidFill>
                  </a:tcPr>
                </a:tc>
                <a:tc>
                  <a:txBody>
                    <a:bodyPr/>
                    <a:lstStyle/>
                    <a:p>
                      <a:r>
                        <a:rPr sz="1050" b="0">
                          <a:solidFill>
                            <a:srgbClr val="57504A"/>
                          </a:solidFill>
                          <a:latin typeface="Google Sans Flex"/>
                          <a:ea typeface="Google Sans Flex"/>
                          <a:cs typeface="Google Sans Flex"/>
                          <a:sym typeface="Google Sans Flex"/>
                        </a:rPr>
                        <a:t>The web demo and Android test builds</a:t>
                      </a:r>
                    </a:p>
                  </a:txBody>
                  <a:tcPr marL="91440" marR="91440" marT="27432" marB="27432" anchor="ctr">
                    <a:solidFill>
                      <a:srgbClr val="F7F3EE"/>
                    </a:solidFill>
                  </a:tcPr>
                </a:tc>
              </a:tr>
              <a:tr h="301752">
                <a:tc>
                  <a:txBody>
                    <a:bodyPr/>
                    <a:lstStyle/>
                    <a:p>
                      <a:r>
                        <a:rPr sz="1050" b="1">
                          <a:solidFill>
                            <a:srgbClr val="1F1A17"/>
                          </a:solidFill>
                          <a:latin typeface="Google Sans Flex"/>
                          <a:ea typeface="Google Sans Flex"/>
                          <a:cs typeface="Google Sans Flex"/>
                          <a:sym typeface="Google Sans Flex"/>
                        </a:rPr>
                        <a:t>Cloud Run, asia-southeast1</a:t>
                      </a:r>
                    </a:p>
                  </a:txBody>
                  <a:tcPr marL="91440" marR="91440" marT="27432" marB="27432" anchor="ctr">
                    <a:solidFill>
                      <a:srgbClr val="FFFFFF"/>
                    </a:solidFill>
                  </a:tcPr>
                </a:tc>
                <a:tc>
                  <a:txBody>
                    <a:bodyPr/>
                    <a:lstStyle/>
                    <a:p>
                      <a:r>
                        <a:rPr sz="1050" b="0">
                          <a:solidFill>
                            <a:srgbClr val="57504A"/>
                          </a:solidFill>
                          <a:latin typeface="Google Sans Flex"/>
                          <a:ea typeface="Google Sans Flex"/>
                          <a:cs typeface="Google Sans Flex"/>
                          <a:sym typeface="Google Sans Flex"/>
                        </a:rPr>
                        <a:t>Hosts the check API and the voice relay</a:t>
                      </a:r>
                    </a:p>
                  </a:txBody>
                  <a:tcPr marL="91440" marR="91440" marT="27432" marB="27432" anchor="ctr">
                    <a:solidFill>
                      <a:srgbClr val="FFFFFF"/>
                    </a:solidFill>
                  </a:tcPr>
                </a:tc>
              </a:tr>
              <a:tr h="301752">
                <a:tc>
                  <a:txBody>
                    <a:bodyPr/>
                    <a:lstStyle/>
                    <a:p>
                      <a:r>
                        <a:rPr sz="1050" b="1">
                          <a:solidFill>
                            <a:srgbClr val="1F1A17"/>
                          </a:solidFill>
                          <a:latin typeface="Google Sans Flex"/>
                          <a:ea typeface="Google Sans Flex"/>
                          <a:cs typeface="Google Sans Flex"/>
                          <a:sym typeface="Google Sans Flex"/>
                        </a:rPr>
                        <a:t>Expo 52, React Native 0.76, TypeScript</a:t>
                      </a:r>
                    </a:p>
                  </a:txBody>
                  <a:tcPr marL="91440" marR="91440" marT="27432" marB="27432" anchor="ctr">
                    <a:solidFill>
                      <a:srgbClr val="F7F3EE"/>
                    </a:solidFill>
                  </a:tcPr>
                </a:tc>
                <a:tc>
                  <a:txBody>
                    <a:bodyPr/>
                    <a:lstStyle/>
                    <a:p>
                      <a:r>
                        <a:rPr sz="1050" b="0">
                          <a:solidFill>
                            <a:srgbClr val="57504A"/>
                          </a:solidFill>
                          <a:latin typeface="Google Sans Flex"/>
                          <a:ea typeface="Google Sans Flex"/>
                          <a:cs typeface="Google Sans Flex"/>
                          <a:sym typeface="Google Sans Flex"/>
                        </a:rPr>
                        <a:t>The Android app and the web demo</a:t>
                      </a:r>
                    </a:p>
                  </a:txBody>
                  <a:tcPr marL="91440" marR="91440" marT="27432" marB="27432" anchor="ctr">
                    <a:solidFill>
                      <a:srgbClr val="F7F3EE"/>
                    </a:solidFill>
                  </a:tcPr>
                </a:tc>
              </a:tr>
              <a:tr h="301752">
                <a:tc>
                  <a:txBody>
                    <a:bodyPr/>
                    <a:lstStyle/>
                    <a:p>
                      <a:r>
                        <a:rPr sz="1050" b="1">
                          <a:solidFill>
                            <a:srgbClr val="1F1A17"/>
                          </a:solidFill>
                          <a:latin typeface="Google Sans Flex"/>
                          <a:ea typeface="Google Sans Flex"/>
                          <a:cs typeface="Google Sans Flex"/>
                          <a:sym typeface="Google Sans Flex"/>
                        </a:rPr>
                        <a:t>Hono on Node 22, TypeScript</a:t>
                      </a:r>
                    </a:p>
                  </a:txBody>
                  <a:tcPr marL="91440" marR="91440" marT="27432" marB="27432" anchor="ctr">
                    <a:solidFill>
                      <a:srgbClr val="FFFFFF"/>
                    </a:solidFill>
                  </a:tcPr>
                </a:tc>
                <a:tc>
                  <a:txBody>
                    <a:bodyPr/>
                    <a:lstStyle/>
                    <a:p>
                      <a:r>
                        <a:rPr sz="1050" b="0">
                          <a:solidFill>
                            <a:srgbClr val="57504A"/>
                          </a:solidFill>
                          <a:latin typeface="Google Sans Flex"/>
                          <a:ea typeface="Google Sans Flex"/>
                          <a:cs typeface="Google Sans Flex"/>
                          <a:sym typeface="Google Sans Flex"/>
                        </a:rPr>
                        <a:t>The check API, the rules engine and the voice relay</a:t>
                      </a:r>
                    </a:p>
                  </a:txBody>
                  <a:tcPr marL="91440" marR="91440" marT="27432" marB="27432" anchor="ctr">
                    <a:solidFill>
                      <a:srgbClr val="FFFFFF"/>
                    </a:solidFill>
                  </a:tcPr>
                </a:tc>
              </a:tr>
              <a:tr h="301752">
                <a:tc>
                  <a:txBody>
                    <a:bodyPr/>
                    <a:lstStyle/>
                    <a:p>
                      <a:r>
                        <a:rPr sz="1050" b="1">
                          <a:solidFill>
                            <a:srgbClr val="1F1A17"/>
                          </a:solidFill>
                          <a:latin typeface="Google Sans Flex"/>
                          <a:ea typeface="Google Sans Flex"/>
                          <a:cs typeface="Google Sans Flex"/>
                          <a:sym typeface="Google Sans Flex"/>
                        </a:rPr>
                        <a:t>Kotlin Android module</a:t>
                      </a:r>
                    </a:p>
                  </a:txBody>
                  <a:tcPr marL="91440" marR="91440" marT="27432" marB="27432" anchor="ctr">
                    <a:solidFill>
                      <a:srgbClr val="F7F3EE"/>
                    </a:solidFill>
                  </a:tcPr>
                </a:tc>
                <a:tc>
                  <a:txBody>
                    <a:bodyPr/>
                    <a:lstStyle/>
                    <a:p>
                      <a:r>
                        <a:rPr sz="1050" b="0">
                          <a:solidFill>
                            <a:srgbClr val="57504A"/>
                          </a:solidFill>
                          <a:latin typeface="Google Sans Flex"/>
                          <a:ea typeface="Google Sans Flex"/>
                          <a:cs typeface="Google Sans Flex"/>
                          <a:sym typeface="Google Sans Flex"/>
                        </a:rPr>
                        <a:t>The screen bubble overlay</a:t>
                      </a:r>
                    </a:p>
                  </a:txBody>
                  <a:tcPr marL="91440" marR="91440" marT="27432" marB="27432" anchor="ctr">
                    <a:solidFill>
                      <a:srgbClr val="F7F3EE"/>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Rounded Rectangle 127"/>
          <p:cNvSpPr/>
          <p:nvPr/>
        </p:nvSpPr>
        <p:spPr>
          <a:xfrm>
            <a:off x="338328" y="1115568"/>
            <a:ext cx="4160520" cy="3520440"/>
          </a:xfrm>
          <a:prstGeom prst="roundRect">
            <a:avLst>
              <a:gd name="adj" fmla="val 2077"/>
            </a:avLst>
          </a:prstGeom>
          <a:solidFill>
            <a:srgbClr val="F7F3EE"/>
          </a:solidFill>
          <a:ln w="9525">
            <a:solidFill>
              <a:srgbClr val="E6DED3"/>
            </a:solidFill>
          </a:ln>
          <a:effectLst/>
        </p:spPr>
        <p:txBody>
          <a:bodyPr rtlCol="0" anchor="ctr"/>
          <a:lstStyle/>
          <a:p/>
        </p:txBody>
      </p:sp>
      <p:sp>
        <p:nvSpPr>
          <p:cNvPr id="129" name="TextBox 128"/>
          <p:cNvSpPr txBox="1"/>
          <p:nvPr/>
        </p:nvSpPr>
        <p:spPr>
          <a:xfrm>
            <a:off x="502920" y="1252728"/>
            <a:ext cx="3831335" cy="3291840"/>
          </a:xfrm>
          <a:prstGeom prst="rect">
            <a:avLst/>
          </a:prstGeom>
          <a:noFill/>
        </p:spPr>
        <p:txBody>
          <a:bodyPr wrap="square" anchor="t" lIns="0" rIns="0" tIns="0" bIns="0"/>
          <a:lstStyle/>
          <a:p>
            <a:pPr algn="l">
              <a:lnSpc>
                <a:spcPct val="112000"/>
              </a:lnSpc>
            </a:pPr>
            <a:r>
              <a:rPr sz="1300" b="1">
                <a:solidFill>
                  <a:srgbClr val="1F1A17"/>
                </a:solidFill>
                <a:latin typeface="Google Sans Flex"/>
                <a:ea typeface="Google Sans Flex"/>
                <a:cs typeface="Google Sans Flex"/>
                <a:sym typeface="Google Sans Flex"/>
              </a:rPr>
              <a:t>Model calls per check</a:t>
            </a:r>
          </a:p>
          <a:p>
            <a:pPr algn="l">
              <a:lnSpc>
                <a:spcPct val="112000"/>
              </a:lnSpc>
              <a:spcBef>
                <a:spcPts val="700"/>
              </a:spcBef>
            </a:pPr>
            <a:r>
              <a:rPr sz="1200" b="0">
                <a:solidFill>
                  <a:srgbClr val="57504A"/>
                </a:solidFill>
                <a:latin typeface="Google Sans Flex"/>
                <a:ea typeface="Google Sans Flex"/>
                <a:cs typeface="Google Sans Flex"/>
                <a:sym typeface="Google Sans Flex"/>
              </a:rPr>
              <a:t>•  One Gemini extraction call (gemini-3.5-flash-lite), text plus an optional image.</a:t>
            </a:r>
          </a:p>
          <a:p>
            <a:pPr algn="l">
              <a:lnSpc>
                <a:spcPct val="112000"/>
              </a:lnSpc>
              <a:spcBef>
                <a:spcPts val="700"/>
              </a:spcBef>
            </a:pPr>
            <a:r>
              <a:rPr sz="1200" b="0">
                <a:solidFill>
                  <a:srgbClr val="57504A"/>
                </a:solidFill>
                <a:latin typeface="Google Sans Flex"/>
                <a:ea typeface="Google Sans Flex"/>
                <a:cs typeface="Google Sans Flex"/>
                <a:sym typeface="Google Sans Flex"/>
              </a:rPr>
              <a:t>•  A second Gemini call with Google Search grounding, only when a company, agency or website is named.</a:t>
            </a:r>
          </a:p>
          <a:p>
            <a:pPr algn="l">
              <a:lnSpc>
                <a:spcPct val="112000"/>
              </a:lnSpc>
              <a:spcBef>
                <a:spcPts val="700"/>
              </a:spcBef>
            </a:pPr>
            <a:r>
              <a:rPr sz="1200" b="0">
                <a:solidFill>
                  <a:srgbClr val="57504A"/>
                </a:solidFill>
                <a:latin typeface="Google Sans Flex"/>
                <a:ea typeface="Google Sans Flex"/>
                <a:cs typeface="Google Sans Flex"/>
                <a:sym typeface="Google Sans Flex"/>
              </a:rPr>
              <a:t>•  One Web Risk or Safe Browsing lookup and one RDAP lookup per link.</a:t>
            </a:r>
          </a:p>
          <a:p>
            <a:pPr algn="l">
              <a:lnSpc>
                <a:spcPct val="112000"/>
              </a:lnSpc>
              <a:spcBef>
                <a:spcPts val="700"/>
              </a:spcBef>
            </a:pPr>
            <a:r>
              <a:rPr sz="1200" b="0">
                <a:solidFill>
                  <a:srgbClr val="57504A"/>
                </a:solidFill>
                <a:latin typeface="Google Sans Flex"/>
                <a:ea typeface="Google Sans Flex"/>
                <a:cs typeface="Google Sans Flex"/>
                <a:sym typeface="Google Sans Flex"/>
              </a:rPr>
              <a:t>•  Gemini TTS only when a spoken warning is played.</a:t>
            </a:r>
          </a:p>
          <a:p>
            <a:pPr algn="l">
              <a:lnSpc>
                <a:spcPct val="112000"/>
              </a:lnSpc>
              <a:spcBef>
                <a:spcPts val="700"/>
              </a:spcBef>
            </a:pPr>
            <a:r>
              <a:rPr sz="1200" b="0">
                <a:solidFill>
                  <a:srgbClr val="57504A"/>
                </a:solidFill>
                <a:latin typeface="Google Sans Flex"/>
                <a:ea typeface="Google Sans Flex"/>
                <a:cs typeface="Google Sans Flex"/>
                <a:sym typeface="Google Sans Flex"/>
              </a:rPr>
              <a:t>•  A voice session lasts at most 120 seconds and counts as two checks.</a:t>
            </a:r>
          </a:p>
        </p:txBody>
      </p:sp>
      <p:sp>
        <p:nvSpPr>
          <p:cNvPr id="130" name="Rounded Rectangle 129"/>
          <p:cNvSpPr/>
          <p:nvPr/>
        </p:nvSpPr>
        <p:spPr>
          <a:xfrm>
            <a:off x="4645152" y="1115568"/>
            <a:ext cx="4160520" cy="3520440"/>
          </a:xfrm>
          <a:prstGeom prst="roundRect">
            <a:avLst>
              <a:gd name="adj" fmla="val 2077"/>
            </a:avLst>
          </a:prstGeom>
          <a:solidFill>
            <a:srgbClr val="F7F3EE"/>
          </a:solidFill>
          <a:ln w="9525">
            <a:solidFill>
              <a:srgbClr val="E6DED3"/>
            </a:solidFill>
          </a:ln>
          <a:effectLst/>
        </p:spPr>
        <p:txBody>
          <a:bodyPr rtlCol="0" anchor="ctr"/>
          <a:lstStyle/>
          <a:p/>
        </p:txBody>
      </p:sp>
      <p:sp>
        <p:nvSpPr>
          <p:cNvPr id="131" name="TextBox 130"/>
          <p:cNvSpPr txBox="1"/>
          <p:nvPr/>
        </p:nvSpPr>
        <p:spPr>
          <a:xfrm>
            <a:off x="4809744" y="1252728"/>
            <a:ext cx="3831335" cy="3291840"/>
          </a:xfrm>
          <a:prstGeom prst="rect">
            <a:avLst/>
          </a:prstGeom>
          <a:noFill/>
        </p:spPr>
        <p:txBody>
          <a:bodyPr wrap="square" anchor="t" lIns="0" rIns="0" tIns="0" bIns="0"/>
          <a:lstStyle/>
          <a:p>
            <a:pPr algn="l">
              <a:lnSpc>
                <a:spcPct val="112000"/>
              </a:lnSpc>
            </a:pPr>
            <a:r>
              <a:rPr sz="1300" b="1">
                <a:solidFill>
                  <a:srgbClr val="1F1A17"/>
                </a:solidFill>
                <a:latin typeface="Google Sans Flex"/>
                <a:ea typeface="Google Sans Flex"/>
                <a:cs typeface="Google Sans Flex"/>
                <a:sym typeface="Google Sans Flex"/>
              </a:rPr>
              <a:t>Cost controls in the API</a:t>
            </a:r>
          </a:p>
          <a:p>
            <a:pPr algn="l">
              <a:lnSpc>
                <a:spcPct val="112000"/>
              </a:lnSpc>
              <a:spcBef>
                <a:spcPts val="700"/>
              </a:spcBef>
            </a:pPr>
            <a:r>
              <a:rPr sz="1200" b="0">
                <a:solidFill>
                  <a:srgbClr val="57504A"/>
                </a:solidFill>
                <a:latin typeface="Google Sans Flex"/>
                <a:ea typeface="Google Sans Flex"/>
                <a:cs typeface="Google Sans Flex"/>
                <a:sym typeface="Google Sans Flex"/>
              </a:rPr>
              <a:t>•  An identical check within 10 minutes comes from the result cache.</a:t>
            </a:r>
          </a:p>
          <a:p>
            <a:pPr algn="l">
              <a:lnSpc>
                <a:spcPct val="112000"/>
              </a:lnSpc>
              <a:spcBef>
                <a:spcPts val="700"/>
              </a:spcBef>
            </a:pPr>
            <a:r>
              <a:rPr sz="1200" b="0">
                <a:solidFill>
                  <a:srgbClr val="57504A"/>
                </a:solidFill>
                <a:latin typeface="Google Sans Flex"/>
                <a:ea typeface="Google Sans Flex"/>
                <a:cs typeface="Google Sans Flex"/>
                <a:sym typeface="Google Sans Flex"/>
              </a:rPr>
              <a:t>•  Hourly limits: 20 checks anonymous, 60 signed in, and 30 requests a minute per IP.</a:t>
            </a:r>
          </a:p>
          <a:p>
            <a:pPr algn="l">
              <a:lnSpc>
                <a:spcPct val="112000"/>
              </a:lnSpc>
              <a:spcBef>
                <a:spcPts val="700"/>
              </a:spcBef>
            </a:pPr>
            <a:r>
              <a:rPr sz="1200" b="0">
                <a:solidFill>
                  <a:srgbClr val="57504A"/>
                </a:solidFill>
                <a:latin typeface="Google Sans Flex"/>
                <a:ea typeface="Google Sans Flex"/>
                <a:cs typeface="Google Sans Flex"/>
                <a:sym typeface="Google Sans Flex"/>
              </a:rPr>
              <a:t>•  Each check has a 15 second budget; a late stage returns "unknown".</a:t>
            </a:r>
          </a:p>
          <a:p>
            <a:pPr algn="l">
              <a:lnSpc>
                <a:spcPct val="112000"/>
              </a:lnSpc>
              <a:spcBef>
                <a:spcPts val="700"/>
              </a:spcBef>
            </a:pPr>
            <a:r>
              <a:rPr sz="1200" b="0">
                <a:solidFill>
                  <a:srgbClr val="57504A"/>
                </a:solidFill>
                <a:latin typeface="Google Sans Flex"/>
                <a:ea typeface="Google Sans Flex"/>
                <a:cs typeface="Google Sans Flex"/>
                <a:sym typeface="Google Sans Flex"/>
              </a:rPr>
              <a:t>•  The Firebase project serves the web demo with no billing account linked.</a:t>
            </a:r>
          </a:p>
          <a:p>
            <a:pPr algn="l">
              <a:lnSpc>
                <a:spcPct val="112000"/>
              </a:lnSpc>
              <a:spcBef>
                <a:spcPts val="700"/>
              </a:spcBef>
            </a:pPr>
            <a:r>
              <a:rPr sz="1200" b="0">
                <a:solidFill>
                  <a:srgbClr val="57504A"/>
                </a:solidFill>
                <a:latin typeface="Google Sans Flex"/>
                <a:ea typeface="Google Sans Flex"/>
                <a:cs typeface="Google Sans Flex"/>
                <a:sym typeface="Google Sans Flex"/>
              </a:rPr>
              <a:t>•  We have not measured a cost per check yet, so this deck gives no dollar figure.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ph-home.png"/>
          <p:cNvPicPr>
            <a:picLocks noChangeAspect="1"/>
          </p:cNvPicPr>
          <p:nvPr/>
        </p:nvPicPr>
        <p:blipFill>
          <a:blip r:embed="rId5"/>
          <a:stretch>
            <a:fillRect/>
          </a:stretch>
        </p:blipFill>
        <p:spPr>
          <a:xfrm>
            <a:off x="338328" y="1078992"/>
            <a:ext cx="1491996" cy="3017520"/>
          </a:xfrm>
          <a:prstGeom prst="rect">
            <a:avLst/>
          </a:prstGeom>
        </p:spPr>
      </p:pic>
      <p:sp>
        <p:nvSpPr>
          <p:cNvPr id="137" name="TextBox 136"/>
          <p:cNvSpPr txBox="1"/>
          <p:nvPr/>
        </p:nvSpPr>
        <p:spPr>
          <a:xfrm>
            <a:off x="201168" y="4151376"/>
            <a:ext cx="1766316" cy="384048"/>
          </a:xfrm>
          <a:prstGeom prst="rect">
            <a:avLst/>
          </a:prstGeom>
          <a:noFill/>
        </p:spPr>
        <p:txBody>
          <a:bodyPr wrap="square" anchor="t" lIns="0" rIns="0" tIns="0" bIns="0"/>
          <a:lstStyle/>
          <a:p>
            <a:pPr algn="ctr">
              <a:lnSpc>
                <a:spcPct val="110000"/>
              </a:lnSpc>
            </a:pPr>
            <a:r>
              <a:rPr sz="1000" b="1">
                <a:solidFill>
                  <a:srgbClr val="1F1A17"/>
                </a:solidFill>
                <a:latin typeface="Google Sans Flex"/>
                <a:ea typeface="Google Sans Flex"/>
                <a:cs typeface="Google Sans Flex"/>
                <a:sym typeface="Google Sans Flex"/>
              </a:rPr>
              <a:t>Home: the shield circle</a:t>
            </a:r>
          </a:p>
        </p:txBody>
      </p:sp>
      <p:pic>
        <p:nvPicPr>
          <p:cNvPr id="138" name="Picture 137" descr="ph-check.png"/>
          <p:cNvPicPr>
            <a:picLocks noChangeAspect="1"/>
          </p:cNvPicPr>
          <p:nvPr/>
        </p:nvPicPr>
        <p:blipFill>
          <a:blip r:embed="rId6"/>
          <a:stretch>
            <a:fillRect/>
          </a:stretch>
        </p:blipFill>
        <p:spPr>
          <a:xfrm>
            <a:off x="2082164" y="1078992"/>
            <a:ext cx="1491996" cy="3017520"/>
          </a:xfrm>
          <a:prstGeom prst="rect">
            <a:avLst/>
          </a:prstGeom>
        </p:spPr>
      </p:pic>
      <p:sp>
        <p:nvSpPr>
          <p:cNvPr id="139" name="TextBox 138"/>
          <p:cNvSpPr txBox="1"/>
          <p:nvPr/>
        </p:nvSpPr>
        <p:spPr>
          <a:xfrm>
            <a:off x="1945005" y="4151376"/>
            <a:ext cx="1766316" cy="384048"/>
          </a:xfrm>
          <a:prstGeom prst="rect">
            <a:avLst/>
          </a:prstGeom>
          <a:noFill/>
        </p:spPr>
        <p:txBody>
          <a:bodyPr wrap="square" anchor="t" lIns="0" rIns="0" tIns="0" bIns="0"/>
          <a:lstStyle/>
          <a:p>
            <a:pPr algn="ctr">
              <a:lnSpc>
                <a:spcPct val="110000"/>
              </a:lnSpc>
            </a:pPr>
            <a:r>
              <a:rPr sz="1000" b="1">
                <a:solidFill>
                  <a:srgbClr val="1F1A17"/>
                </a:solidFill>
                <a:latin typeface="Google Sans Flex"/>
                <a:ea typeface="Google Sans Flex"/>
                <a:cs typeface="Google Sans Flex"/>
                <a:sym typeface="Google Sans Flex"/>
              </a:rPr>
              <a:t>Check: pick what to check</a:t>
            </a:r>
          </a:p>
        </p:txBody>
      </p:sp>
      <p:pic>
        <p:nvPicPr>
          <p:cNvPr id="140" name="Picture 139" descr="ph-danger-en.png"/>
          <p:cNvPicPr>
            <a:picLocks noChangeAspect="1"/>
          </p:cNvPicPr>
          <p:nvPr/>
        </p:nvPicPr>
        <p:blipFill>
          <a:blip r:embed="rId7"/>
          <a:stretch>
            <a:fillRect/>
          </a:stretch>
        </p:blipFill>
        <p:spPr>
          <a:xfrm>
            <a:off x="3826001" y="1078992"/>
            <a:ext cx="1491996" cy="3017520"/>
          </a:xfrm>
          <a:prstGeom prst="rect">
            <a:avLst/>
          </a:prstGeom>
        </p:spPr>
      </p:pic>
      <p:sp>
        <p:nvSpPr>
          <p:cNvPr id="141" name="TextBox 140"/>
          <p:cNvSpPr txBox="1"/>
          <p:nvPr/>
        </p:nvSpPr>
        <p:spPr>
          <a:xfrm>
            <a:off x="3688841" y="4151376"/>
            <a:ext cx="1766316" cy="384048"/>
          </a:xfrm>
          <a:prstGeom prst="rect">
            <a:avLst/>
          </a:prstGeom>
          <a:noFill/>
        </p:spPr>
        <p:txBody>
          <a:bodyPr wrap="square" anchor="t" lIns="0" rIns="0" tIns="0" bIns="0"/>
          <a:lstStyle/>
          <a:p>
            <a:pPr algn="ctr">
              <a:lnSpc>
                <a:spcPct val="110000"/>
              </a:lnSpc>
            </a:pPr>
            <a:r>
              <a:rPr sz="1000" b="1">
                <a:solidFill>
                  <a:srgbClr val="1F1A17"/>
                </a:solidFill>
                <a:latin typeface="Google Sans Flex"/>
                <a:ea typeface="Google Sans Flex"/>
                <a:cs typeface="Google Sans Flex"/>
                <a:sym typeface="Google Sans Flex"/>
              </a:rPr>
              <a:t>High risk report</a:t>
            </a:r>
          </a:p>
        </p:txBody>
      </p:sp>
      <p:pic>
        <p:nvPicPr>
          <p:cNvPr id="142" name="Picture 141" descr="ph-jobshield.png"/>
          <p:cNvPicPr>
            <a:picLocks noChangeAspect="1"/>
          </p:cNvPicPr>
          <p:nvPr/>
        </p:nvPicPr>
        <p:blipFill>
          <a:blip r:embed="rId8"/>
          <a:stretch>
            <a:fillRect/>
          </a:stretch>
        </p:blipFill>
        <p:spPr>
          <a:xfrm>
            <a:off x="5569839" y="1078992"/>
            <a:ext cx="1491996" cy="3017520"/>
          </a:xfrm>
          <a:prstGeom prst="rect">
            <a:avLst/>
          </a:prstGeom>
        </p:spPr>
      </p:pic>
      <p:sp>
        <p:nvSpPr>
          <p:cNvPr id="143" name="TextBox 142"/>
          <p:cNvSpPr txBox="1"/>
          <p:nvPr/>
        </p:nvSpPr>
        <p:spPr>
          <a:xfrm>
            <a:off x="5432678" y="4151376"/>
            <a:ext cx="1766316" cy="384048"/>
          </a:xfrm>
          <a:prstGeom prst="rect">
            <a:avLst/>
          </a:prstGeom>
          <a:noFill/>
        </p:spPr>
        <p:txBody>
          <a:bodyPr wrap="square" anchor="t" lIns="0" rIns="0" tIns="0" bIns="0"/>
          <a:lstStyle/>
          <a:p>
            <a:pPr algn="ctr">
              <a:lnSpc>
                <a:spcPct val="110000"/>
              </a:lnSpc>
            </a:pPr>
            <a:r>
              <a:rPr sz="1000" b="1">
                <a:solidFill>
                  <a:srgbClr val="1F1A17"/>
                </a:solidFill>
                <a:latin typeface="Google Sans Flex"/>
                <a:ea typeface="Google Sans Flex"/>
                <a:cs typeface="Google Sans Flex"/>
                <a:sym typeface="Google Sans Flex"/>
              </a:rPr>
              <a:t>Job Shield: what doesn't match</a:t>
            </a:r>
          </a:p>
        </p:txBody>
      </p:sp>
      <p:pic>
        <p:nvPicPr>
          <p:cNvPr id="144" name="Picture 143" descr="ph-bubble.png"/>
          <p:cNvPicPr>
            <a:picLocks noChangeAspect="1"/>
          </p:cNvPicPr>
          <p:nvPr/>
        </p:nvPicPr>
        <p:blipFill>
          <a:blip r:embed="rId9"/>
          <a:stretch>
            <a:fillRect/>
          </a:stretch>
        </p:blipFill>
        <p:spPr>
          <a:xfrm>
            <a:off x="7313676" y="1078992"/>
            <a:ext cx="1491996" cy="3017520"/>
          </a:xfrm>
          <a:prstGeom prst="rect">
            <a:avLst/>
          </a:prstGeom>
        </p:spPr>
      </p:pic>
      <p:sp>
        <p:nvSpPr>
          <p:cNvPr id="145" name="TextBox 144"/>
          <p:cNvSpPr txBox="1"/>
          <p:nvPr/>
        </p:nvSpPr>
        <p:spPr>
          <a:xfrm>
            <a:off x="7176515" y="4151376"/>
            <a:ext cx="1766316" cy="384048"/>
          </a:xfrm>
          <a:prstGeom prst="rect">
            <a:avLst/>
          </a:prstGeom>
          <a:noFill/>
        </p:spPr>
        <p:txBody>
          <a:bodyPr wrap="square" anchor="t" lIns="0" rIns="0" tIns="0" bIns="0"/>
          <a:lstStyle/>
          <a:p>
            <a:pPr algn="ctr">
              <a:lnSpc>
                <a:spcPct val="110000"/>
              </a:lnSpc>
            </a:pPr>
            <a:r>
              <a:rPr sz="1000" b="1">
                <a:solidFill>
                  <a:srgbClr val="1F1A17"/>
                </a:solidFill>
                <a:latin typeface="Google Sans Flex"/>
                <a:ea typeface="Google Sans Flex"/>
                <a:cs typeface="Google Sans Flex"/>
                <a:sym typeface="Google Sans Flex"/>
              </a:rPr>
              <a:t>Screen bubble (Android)</a:t>
            </a:r>
          </a:p>
        </p:txBody>
      </p:sp>
      <p:sp>
        <p:nvSpPr>
          <p:cNvPr id="146" name="TextBox 145"/>
          <p:cNvSpPr txBox="1"/>
          <p:nvPr/>
        </p:nvSpPr>
        <p:spPr>
          <a:xfrm>
            <a:off x="338328" y="4681728"/>
            <a:ext cx="8467344" cy="274320"/>
          </a:xfrm>
          <a:prstGeom prst="rect">
            <a:avLst/>
          </a:prstGeom>
          <a:noFill/>
        </p:spPr>
        <p:txBody>
          <a:bodyPr wrap="square" anchor="t" lIns="0" rIns="0" tIns="0" bIns="0"/>
          <a:lstStyle/>
          <a:p>
            <a:pPr algn="l">
              <a:lnSpc>
                <a:spcPct val="110000"/>
              </a:lnSpc>
            </a:pPr>
            <a:r>
              <a:rPr sz="850" b="0">
                <a:solidFill>
                  <a:srgbClr val="6B635C"/>
                </a:solidFill>
                <a:latin typeface="Google Sans Flex"/>
                <a:ea typeface="Google Sans Flex"/>
                <a:cs typeface="Google Sans Flex"/>
                <a:sym typeface="Google Sans Flex"/>
              </a:rPr>
              <a:t>Web build of the release commit against the live API, with fictional inputs. The bubble shows the Android overlay views on a drawn chat.</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338328" y="1115568"/>
            <a:ext cx="2724912" cy="1645920"/>
          </a:xfrm>
          <a:prstGeom prst="roundRect">
            <a:avLst>
              <a:gd name="adj" fmla="val 4444"/>
            </a:avLst>
          </a:prstGeom>
          <a:solidFill>
            <a:srgbClr val="1F1A17"/>
          </a:solidFill>
          <a:ln>
            <a:noFill/>
          </a:ln>
          <a:effectLst/>
        </p:spPr>
        <p:txBody>
          <a:bodyPr rtlCol="0" anchor="ctr"/>
          <a:lstStyle/>
          <a:p/>
        </p:txBody>
      </p:sp>
      <p:sp>
        <p:nvSpPr>
          <p:cNvPr id="145" name="TextBox 144"/>
          <p:cNvSpPr txBox="1"/>
          <p:nvPr/>
        </p:nvSpPr>
        <p:spPr>
          <a:xfrm>
            <a:off x="502920" y="1225295"/>
            <a:ext cx="2395728" cy="1463040"/>
          </a:xfrm>
          <a:prstGeom prst="rect">
            <a:avLst/>
          </a:prstGeom>
          <a:noFill/>
        </p:spPr>
        <p:txBody>
          <a:bodyPr wrap="square" anchor="t" lIns="0" rIns="0" tIns="0" bIns="0"/>
          <a:lstStyle/>
          <a:p>
            <a:pPr algn="l">
              <a:lnSpc>
                <a:spcPct val="100000"/>
              </a:lnSpc>
            </a:pPr>
            <a:r>
              <a:rPr sz="2800" b="1">
                <a:solidFill>
                  <a:srgbClr val="FFFFFF"/>
                </a:solidFill>
                <a:latin typeface="Google Sans Flex"/>
                <a:ea typeface="Google Sans Flex"/>
                <a:cs typeface="Google Sans Flex"/>
                <a:sym typeface="Google Sans Flex"/>
              </a:rPr>
              <a:t>31/31</a:t>
            </a:r>
          </a:p>
          <a:p>
            <a:pPr algn="l">
              <a:lnSpc>
                <a:spcPct val="110000"/>
              </a:lnSpc>
              <a:spcBef>
                <a:spcPts val="400"/>
              </a:spcBef>
            </a:pPr>
            <a:r>
              <a:rPr sz="1150" b="1">
                <a:solidFill>
                  <a:srgbClr val="FFFFFF"/>
                </a:solidFill>
                <a:latin typeface="Google Sans Flex"/>
                <a:ea typeface="Google Sans Flex"/>
                <a:cs typeface="Google Sans Flex"/>
                <a:sym typeface="Google Sans Flex"/>
              </a:rPr>
              <a:t>Text eval cases correct</a:t>
            </a:r>
          </a:p>
          <a:p>
            <a:pPr algn="l">
              <a:lnSpc>
                <a:spcPct val="110000"/>
              </a:lnSpc>
              <a:spcBef>
                <a:spcPts val="300"/>
              </a:spcBef>
            </a:pPr>
            <a:r>
              <a:rPr sz="950" b="0">
                <a:solidFill>
                  <a:srgbClr val="CFC5B9"/>
                </a:solidFill>
                <a:latin typeface="Google Sans Flex"/>
                <a:ea typeface="Google Sans Flex"/>
                <a:cs typeface="Google Sans Flex"/>
                <a:sym typeface="Google Sans Flex"/>
              </a:rPr>
              <a:t>0 responses with certainty wording after the guard. p50 2.8 s, p95 4.4 s.</a:t>
            </a:r>
          </a:p>
        </p:txBody>
      </p:sp>
      <p:sp>
        <p:nvSpPr>
          <p:cNvPr id="146" name="Rounded Rectangle 145"/>
          <p:cNvSpPr/>
          <p:nvPr/>
        </p:nvSpPr>
        <p:spPr>
          <a:xfrm>
            <a:off x="3209544" y="1115568"/>
            <a:ext cx="2724912" cy="1645920"/>
          </a:xfrm>
          <a:prstGeom prst="roundRect">
            <a:avLst>
              <a:gd name="adj" fmla="val 4444"/>
            </a:avLst>
          </a:prstGeom>
          <a:solidFill>
            <a:srgbClr val="F7F3EE"/>
          </a:solidFill>
          <a:ln w="9525">
            <a:solidFill>
              <a:srgbClr val="E6DED3"/>
            </a:solidFill>
          </a:ln>
          <a:effectLst/>
        </p:spPr>
        <p:txBody>
          <a:bodyPr rtlCol="0" anchor="ctr"/>
          <a:lstStyle/>
          <a:p/>
        </p:txBody>
      </p:sp>
      <p:sp>
        <p:nvSpPr>
          <p:cNvPr id="147" name="TextBox 146"/>
          <p:cNvSpPr txBox="1"/>
          <p:nvPr/>
        </p:nvSpPr>
        <p:spPr>
          <a:xfrm>
            <a:off x="3374136" y="1225295"/>
            <a:ext cx="2395728" cy="1463040"/>
          </a:xfrm>
          <a:prstGeom prst="rect">
            <a:avLst/>
          </a:prstGeom>
          <a:noFill/>
        </p:spPr>
        <p:txBody>
          <a:bodyPr wrap="square" anchor="t" lIns="0" rIns="0" tIns="0" bIns="0"/>
          <a:lstStyle/>
          <a:p>
            <a:pPr algn="l">
              <a:lnSpc>
                <a:spcPct val="100000"/>
              </a:lnSpc>
            </a:pPr>
            <a:r>
              <a:rPr sz="2800" b="1">
                <a:solidFill>
                  <a:srgbClr val="1F1A17"/>
                </a:solidFill>
                <a:latin typeface="Google Sans Flex"/>
                <a:ea typeface="Google Sans Flex"/>
                <a:cs typeface="Google Sans Flex"/>
                <a:sym typeface="Google Sans Flex"/>
              </a:rPr>
              <a:t>89.7</a:t>
            </a:r>
          </a:p>
          <a:p>
            <a:pPr algn="l">
              <a:lnSpc>
                <a:spcPct val="110000"/>
              </a:lnSpc>
              <a:spcBef>
                <a:spcPts val="400"/>
              </a:spcBef>
            </a:pPr>
            <a:r>
              <a:rPr sz="1150" b="1">
                <a:solidFill>
                  <a:srgbClr val="1F1A17"/>
                </a:solidFill>
                <a:latin typeface="Google Sans Flex"/>
                <a:ea typeface="Google Sans Flex"/>
                <a:cs typeface="Google Sans Flex"/>
                <a:sym typeface="Google Sans Flex"/>
              </a:rPr>
              <a:t>Protection Score, 24 synthetic screenshots</a:t>
            </a:r>
          </a:p>
          <a:p>
            <a:pPr algn="l">
              <a:lnSpc>
                <a:spcPct val="110000"/>
              </a:lnSpc>
              <a:spcBef>
                <a:spcPts val="300"/>
              </a:spcBef>
            </a:pPr>
            <a:r>
              <a:rPr sz="950" b="0">
                <a:solidFill>
                  <a:srgbClr val="57504A"/>
                </a:solidFill>
                <a:latin typeface="Google Sans Flex"/>
                <a:ea typeface="Google Sans Flex"/>
                <a:cs typeface="Google Sans Flex"/>
                <a:sym typeface="Google Sans Flex"/>
              </a:rPr>
              <a:t>5 languages, 0 critical failures, 48/48 quotes found in the image.</a:t>
            </a:r>
          </a:p>
        </p:txBody>
      </p:sp>
      <p:sp>
        <p:nvSpPr>
          <p:cNvPr id="148" name="Rounded Rectangle 147"/>
          <p:cNvSpPr/>
          <p:nvPr/>
        </p:nvSpPr>
        <p:spPr>
          <a:xfrm>
            <a:off x="6080760" y="1115568"/>
            <a:ext cx="2724912" cy="1645920"/>
          </a:xfrm>
          <a:prstGeom prst="roundRect">
            <a:avLst>
              <a:gd name="adj" fmla="val 4444"/>
            </a:avLst>
          </a:prstGeom>
          <a:solidFill>
            <a:srgbClr val="F7F3EE"/>
          </a:solidFill>
          <a:ln w="9525">
            <a:solidFill>
              <a:srgbClr val="E6DED3"/>
            </a:solidFill>
          </a:ln>
          <a:effectLst/>
        </p:spPr>
        <p:txBody>
          <a:bodyPr rtlCol="0" anchor="ctr"/>
          <a:lstStyle/>
          <a:p/>
        </p:txBody>
      </p:sp>
      <p:sp>
        <p:nvSpPr>
          <p:cNvPr id="149" name="TextBox 148"/>
          <p:cNvSpPr txBox="1"/>
          <p:nvPr/>
        </p:nvSpPr>
        <p:spPr>
          <a:xfrm>
            <a:off x="6245352" y="1225295"/>
            <a:ext cx="2395728" cy="1463040"/>
          </a:xfrm>
          <a:prstGeom prst="rect">
            <a:avLst/>
          </a:prstGeom>
          <a:noFill/>
        </p:spPr>
        <p:txBody>
          <a:bodyPr wrap="square" anchor="t" lIns="0" rIns="0" tIns="0" bIns="0"/>
          <a:lstStyle/>
          <a:p>
            <a:pPr algn="l">
              <a:lnSpc>
                <a:spcPct val="100000"/>
              </a:lnSpc>
            </a:pPr>
            <a:r>
              <a:rPr sz="2800" b="1">
                <a:solidFill>
                  <a:srgbClr val="1F1A17"/>
                </a:solidFill>
                <a:latin typeface="Google Sans Flex"/>
                <a:ea typeface="Google Sans Flex"/>
                <a:cs typeface="Google Sans Flex"/>
                <a:sym typeface="Google Sans Flex"/>
              </a:rPr>
              <a:t>about 67</a:t>
            </a:r>
          </a:p>
          <a:p>
            <a:pPr algn="l">
              <a:lnSpc>
                <a:spcPct val="110000"/>
              </a:lnSpc>
              <a:spcBef>
                <a:spcPts val="400"/>
              </a:spcBef>
            </a:pPr>
            <a:r>
              <a:rPr sz="1150" b="1">
                <a:solidFill>
                  <a:srgbClr val="1F1A17"/>
                </a:solidFill>
                <a:latin typeface="Google Sans Flex"/>
                <a:ea typeface="Google Sans Flex"/>
                <a:cs typeface="Google Sans Flex"/>
                <a:sym typeface="Google Sans Flex"/>
              </a:rPr>
              <a:t>Protection Score, 96 real screenshots</a:t>
            </a:r>
          </a:p>
          <a:p>
            <a:pPr algn="l">
              <a:lnSpc>
                <a:spcPct val="110000"/>
              </a:lnSpc>
              <a:spcBef>
                <a:spcPts val="300"/>
              </a:spcBef>
            </a:pPr>
            <a:r>
              <a:rPr sz="950" b="0">
                <a:solidFill>
                  <a:srgbClr val="57504A"/>
                </a:solidFill>
                <a:latin typeface="Google Sans Flex"/>
                <a:ea typeface="Google Sans Flex"/>
                <a:cs typeface="Google Sans Flex"/>
                <a:sym typeface="Google Sans Flex"/>
              </a:rPr>
              <a:t>Provisional. Draft labels from two models; no human review yet.</a:t>
            </a:r>
          </a:p>
        </p:txBody>
      </p:sp>
      <p:sp>
        <p:nvSpPr>
          <p:cNvPr id="150" name="Rounded Rectangle 149"/>
          <p:cNvSpPr/>
          <p:nvPr/>
        </p:nvSpPr>
        <p:spPr>
          <a:xfrm>
            <a:off x="338328" y="2907791"/>
            <a:ext cx="2724912" cy="1645920"/>
          </a:xfrm>
          <a:prstGeom prst="roundRect">
            <a:avLst>
              <a:gd name="adj" fmla="val 4444"/>
            </a:avLst>
          </a:prstGeom>
          <a:solidFill>
            <a:srgbClr val="F7F3EE"/>
          </a:solidFill>
          <a:ln w="9525">
            <a:solidFill>
              <a:srgbClr val="E6DED3"/>
            </a:solidFill>
          </a:ln>
          <a:effectLst/>
        </p:spPr>
        <p:txBody>
          <a:bodyPr rtlCol="0" anchor="ctr"/>
          <a:lstStyle/>
          <a:p/>
        </p:txBody>
      </p:sp>
      <p:sp>
        <p:nvSpPr>
          <p:cNvPr id="151" name="TextBox 150"/>
          <p:cNvSpPr txBox="1"/>
          <p:nvPr/>
        </p:nvSpPr>
        <p:spPr>
          <a:xfrm>
            <a:off x="502920" y="3017520"/>
            <a:ext cx="2395728" cy="1463040"/>
          </a:xfrm>
          <a:prstGeom prst="rect">
            <a:avLst/>
          </a:prstGeom>
          <a:noFill/>
        </p:spPr>
        <p:txBody>
          <a:bodyPr wrap="square" anchor="t" lIns="0" rIns="0" tIns="0" bIns="0"/>
          <a:lstStyle/>
          <a:p>
            <a:pPr algn="l">
              <a:lnSpc>
                <a:spcPct val="100000"/>
              </a:lnSpc>
            </a:pPr>
            <a:r>
              <a:rPr sz="2800" b="1">
                <a:solidFill>
                  <a:srgbClr val="1F1A17"/>
                </a:solidFill>
                <a:latin typeface="Google Sans Flex"/>
                <a:ea typeface="Google Sans Flex"/>
                <a:cs typeface="Google Sans Flex"/>
                <a:sym typeface="Google Sans Flex"/>
              </a:rPr>
              <a:t>10/10</a:t>
            </a:r>
          </a:p>
          <a:p>
            <a:pPr algn="l">
              <a:lnSpc>
                <a:spcPct val="110000"/>
              </a:lnSpc>
              <a:spcBef>
                <a:spcPts val="400"/>
              </a:spcBef>
            </a:pPr>
            <a:r>
              <a:rPr sz="1150" b="1">
                <a:solidFill>
                  <a:srgbClr val="1F1A17"/>
                </a:solidFill>
                <a:latin typeface="Google Sans Flex"/>
                <a:ea typeface="Google Sans Flex"/>
                <a:cs typeface="Google Sans Flex"/>
                <a:sym typeface="Google Sans Flex"/>
              </a:rPr>
              <a:t>Job Shield ad and chat pairs</a:t>
            </a:r>
          </a:p>
          <a:p>
            <a:pPr algn="l">
              <a:lnSpc>
                <a:spcPct val="110000"/>
              </a:lnSpc>
              <a:spcBef>
                <a:spcPts val="300"/>
              </a:spcBef>
            </a:pPr>
            <a:r>
              <a:rPr sz="950" b="0">
                <a:solidFill>
                  <a:srgbClr val="57504A"/>
                </a:solidFill>
                <a:latin typeface="Google Sans Flex"/>
                <a:ea typeface="Google Sans Flex"/>
                <a:cs typeface="Google Sans Flex"/>
                <a:sym typeface="Google Sans Flex"/>
              </a:rPr>
              <a:t>No legit pair reached Pause. No scam pair stayed at the lowest tier.</a:t>
            </a:r>
          </a:p>
        </p:txBody>
      </p:sp>
      <p:sp>
        <p:nvSpPr>
          <p:cNvPr id="152" name="Rounded Rectangle 151"/>
          <p:cNvSpPr/>
          <p:nvPr/>
        </p:nvSpPr>
        <p:spPr>
          <a:xfrm>
            <a:off x="3209544" y="2907791"/>
            <a:ext cx="2724912" cy="1645920"/>
          </a:xfrm>
          <a:prstGeom prst="roundRect">
            <a:avLst>
              <a:gd name="adj" fmla="val 4444"/>
            </a:avLst>
          </a:prstGeom>
          <a:solidFill>
            <a:srgbClr val="F7F3EE"/>
          </a:solidFill>
          <a:ln w="9525">
            <a:solidFill>
              <a:srgbClr val="E6DED3"/>
            </a:solidFill>
          </a:ln>
          <a:effectLst/>
        </p:spPr>
        <p:txBody>
          <a:bodyPr rtlCol="0" anchor="ctr"/>
          <a:lstStyle/>
          <a:p/>
        </p:txBody>
      </p:sp>
      <p:sp>
        <p:nvSpPr>
          <p:cNvPr id="153" name="TextBox 152"/>
          <p:cNvSpPr txBox="1"/>
          <p:nvPr/>
        </p:nvSpPr>
        <p:spPr>
          <a:xfrm>
            <a:off x="3374136" y="3017520"/>
            <a:ext cx="2395728" cy="1463040"/>
          </a:xfrm>
          <a:prstGeom prst="rect">
            <a:avLst/>
          </a:prstGeom>
          <a:noFill/>
        </p:spPr>
        <p:txBody>
          <a:bodyPr wrap="square" anchor="t" lIns="0" rIns="0" tIns="0" bIns="0"/>
          <a:lstStyle/>
          <a:p>
            <a:pPr algn="l">
              <a:lnSpc>
                <a:spcPct val="100000"/>
              </a:lnSpc>
            </a:pPr>
            <a:r>
              <a:rPr sz="2800" b="1">
                <a:solidFill>
                  <a:srgbClr val="1F1A17"/>
                </a:solidFill>
                <a:latin typeface="Google Sans Flex"/>
                <a:ea typeface="Google Sans Flex"/>
                <a:cs typeface="Google Sans Flex"/>
                <a:sym typeface="Google Sans Flex"/>
              </a:rPr>
              <a:t>93 + 28</a:t>
            </a:r>
          </a:p>
          <a:p>
            <a:pPr algn="l">
              <a:lnSpc>
                <a:spcPct val="110000"/>
              </a:lnSpc>
              <a:spcBef>
                <a:spcPts val="400"/>
              </a:spcBef>
            </a:pPr>
            <a:r>
              <a:rPr sz="1150" b="1">
                <a:solidFill>
                  <a:srgbClr val="1F1A17"/>
                </a:solidFill>
                <a:latin typeface="Google Sans Flex"/>
                <a:ea typeface="Google Sans Flex"/>
                <a:cs typeface="Google Sans Flex"/>
                <a:sym typeface="Google Sans Flex"/>
              </a:rPr>
              <a:t>Public dataset on Hugging Face</a:t>
            </a:r>
          </a:p>
          <a:p>
            <a:pPr algn="l">
              <a:lnSpc>
                <a:spcPct val="110000"/>
              </a:lnSpc>
              <a:spcBef>
                <a:spcPts val="300"/>
              </a:spcBef>
            </a:pPr>
            <a:r>
              <a:rPr sz="950" b="0">
                <a:solidFill>
                  <a:srgbClr val="57504A"/>
                </a:solidFill>
                <a:latin typeface="Google Sans Flex"/>
                <a:ea typeface="Google Sans Flex"/>
                <a:cs typeface="Google Sans Flex"/>
                <a:sym typeface="Google Sans Flex"/>
              </a:rPr>
              <a:t>Real redacted and synthetic screenshots with labels.</a:t>
            </a:r>
          </a:p>
        </p:txBody>
      </p:sp>
      <p:sp>
        <p:nvSpPr>
          <p:cNvPr id="154" name="Rounded Rectangle 153"/>
          <p:cNvSpPr/>
          <p:nvPr/>
        </p:nvSpPr>
        <p:spPr>
          <a:xfrm>
            <a:off x="6080760" y="2907791"/>
            <a:ext cx="2724912" cy="1645920"/>
          </a:xfrm>
          <a:prstGeom prst="roundRect">
            <a:avLst>
              <a:gd name="adj" fmla="val 4444"/>
            </a:avLst>
          </a:prstGeom>
          <a:solidFill>
            <a:srgbClr val="F7F3EE"/>
          </a:solidFill>
          <a:ln w="9525">
            <a:solidFill>
              <a:srgbClr val="E6DED3"/>
            </a:solidFill>
          </a:ln>
          <a:effectLst/>
        </p:spPr>
        <p:txBody>
          <a:bodyPr rtlCol="0" anchor="ctr"/>
          <a:lstStyle/>
          <a:p/>
        </p:txBody>
      </p:sp>
      <p:sp>
        <p:nvSpPr>
          <p:cNvPr id="155" name="TextBox 154"/>
          <p:cNvSpPr txBox="1"/>
          <p:nvPr/>
        </p:nvSpPr>
        <p:spPr>
          <a:xfrm>
            <a:off x="6245352" y="3017520"/>
            <a:ext cx="2395728" cy="1463040"/>
          </a:xfrm>
          <a:prstGeom prst="rect">
            <a:avLst/>
          </a:prstGeom>
          <a:noFill/>
        </p:spPr>
        <p:txBody>
          <a:bodyPr wrap="square" anchor="t" lIns="0" rIns="0" tIns="0" bIns="0"/>
          <a:lstStyle/>
          <a:p>
            <a:pPr algn="l">
              <a:lnSpc>
                <a:spcPct val="100000"/>
              </a:lnSpc>
            </a:pPr>
            <a:r>
              <a:rPr sz="2800" b="1">
                <a:solidFill>
                  <a:srgbClr val="1F1A17"/>
                </a:solidFill>
                <a:latin typeface="Google Sans Flex"/>
                <a:ea typeface="Google Sans Flex"/>
                <a:cs typeface="Google Sans Flex"/>
                <a:sym typeface="Google Sans Flex"/>
              </a:rPr>
              <a:t>98%</a:t>
            </a:r>
          </a:p>
          <a:p>
            <a:pPr algn="l">
              <a:lnSpc>
                <a:spcPct val="110000"/>
              </a:lnSpc>
              <a:spcBef>
                <a:spcPts val="400"/>
              </a:spcBef>
            </a:pPr>
            <a:r>
              <a:rPr sz="1150" b="1">
                <a:solidFill>
                  <a:srgbClr val="1F1A17"/>
                </a:solidFill>
                <a:latin typeface="Google Sans Flex"/>
                <a:ea typeface="Google Sans Flex"/>
                <a:cs typeface="Google Sans Flex"/>
                <a:sym typeface="Google Sans Flex"/>
              </a:rPr>
              <a:t>Verdict stability, 210 variants</a:t>
            </a:r>
          </a:p>
          <a:p>
            <a:pPr algn="l">
              <a:lnSpc>
                <a:spcPct val="110000"/>
              </a:lnSpc>
              <a:spcBef>
                <a:spcPts val="300"/>
              </a:spcBef>
            </a:pPr>
            <a:r>
              <a:rPr sz="950" b="0">
                <a:solidFill>
                  <a:srgbClr val="57504A"/>
                </a:solidFill>
                <a:latin typeface="Google Sans Flex"/>
                <a:ea typeface="Google Sans Flex"/>
                <a:cs typeface="Google Sans Flex"/>
                <a:sym typeface="Google Sans Flex"/>
              </a:rPr>
              <a:t>Low resolution, JPEG, crop, rotation, dark mode, overlays and prompt injection.</a:t>
            </a:r>
          </a:p>
        </p:txBody>
      </p:sp>
      <p:sp>
        <p:nvSpPr>
          <p:cNvPr id="156" name="TextBox 155"/>
          <p:cNvSpPr txBox="1"/>
          <p:nvPr/>
        </p:nvSpPr>
        <p:spPr>
          <a:xfrm>
            <a:off x="338328" y="4690872"/>
            <a:ext cx="8467344" cy="274320"/>
          </a:xfrm>
          <a:prstGeom prst="rect">
            <a:avLst/>
          </a:prstGeom>
          <a:noFill/>
        </p:spPr>
        <p:txBody>
          <a:bodyPr wrap="square" anchor="t" lIns="0" rIns="0" tIns="0" bIns="0"/>
          <a:lstStyle/>
          <a:p>
            <a:pPr algn="l">
              <a:lnSpc>
                <a:spcPct val="110000"/>
              </a:lnSpc>
            </a:pPr>
            <a:r>
              <a:rPr sz="850" b="0">
                <a:solidFill>
                  <a:srgbClr val="6B635C"/>
                </a:solidFill>
                <a:latin typeface="Google Sans Flex"/>
                <a:ea typeface="Google Sans Flex"/>
                <a:cs typeface="Google Sans Flex"/>
                <a:sym typeface="Google Sans Flex"/>
              </a:rPr>
              <a:t>gemini-3.5-flash-lite, production prompt, runs of 16 October 2026. A live link check also flags Google's Safe Browsing test phishing URL as High risk.</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338328" y="1097280"/>
            <a:ext cx="4023360" cy="274320"/>
          </a:xfrm>
          <a:prstGeom prst="rect">
            <a:avLst/>
          </a:prstGeom>
          <a:noFill/>
        </p:spPr>
        <p:txBody>
          <a:bodyPr wrap="square" anchor="t" lIns="0" rIns="0" tIns="0" bIns="0"/>
          <a:lstStyle/>
          <a:p>
            <a:pPr algn="l">
              <a:lnSpc>
                <a:spcPct val="110000"/>
              </a:lnSpc>
            </a:pPr>
            <a:r>
              <a:rPr sz="1300" b="1">
                <a:solidFill>
                  <a:srgbClr val="1F1A17"/>
                </a:solidFill>
                <a:latin typeface="Google Sans Flex"/>
                <a:ea typeface="Google Sans Flex"/>
                <a:cs typeface="Google Sans Flex"/>
                <a:sym typeface="Google Sans Flex"/>
              </a:rPr>
              <a:t>Next</a:t>
            </a:r>
          </a:p>
        </p:txBody>
      </p:sp>
      <p:sp>
        <p:nvSpPr>
          <p:cNvPr id="153" name="Rounded Rectangle 152"/>
          <p:cNvSpPr/>
          <p:nvPr/>
        </p:nvSpPr>
        <p:spPr>
          <a:xfrm>
            <a:off x="338328" y="1481328"/>
            <a:ext cx="4069080" cy="512064"/>
          </a:xfrm>
          <a:prstGeom prst="roundRect">
            <a:avLst>
              <a:gd name="adj" fmla="val 14285"/>
            </a:avLst>
          </a:prstGeom>
          <a:solidFill>
            <a:srgbClr val="F7F3EE"/>
          </a:solidFill>
          <a:ln w="9525">
            <a:solidFill>
              <a:srgbClr val="E6DED3"/>
            </a:solidFill>
          </a:ln>
          <a:effectLst/>
        </p:spPr>
        <p:txBody>
          <a:bodyPr rtlCol="0" anchor="ctr"/>
          <a:lstStyle/>
          <a:p/>
        </p:txBody>
      </p:sp>
      <p:sp>
        <p:nvSpPr>
          <p:cNvPr id="154" name="Oval 153"/>
          <p:cNvSpPr/>
          <p:nvPr/>
        </p:nvSpPr>
        <p:spPr>
          <a:xfrm>
            <a:off x="448056" y="1581912"/>
            <a:ext cx="310896" cy="310896"/>
          </a:xfrm>
          <a:prstGeom prst="ellipse">
            <a:avLst/>
          </a:prstGeom>
          <a:solidFill>
            <a:srgbClr val="1F1A17"/>
          </a:solidFill>
          <a:ln>
            <a:noFill/>
          </a:ln>
          <a:effectLst/>
        </p:spPr>
        <p:txBody>
          <a:bodyPr rtlCol="0" anchor="ctr"/>
          <a:lstStyle/>
          <a:p/>
        </p:txBody>
      </p:sp>
      <p:sp>
        <p:nvSpPr>
          <p:cNvPr id="155" name="TextBox 154"/>
          <p:cNvSpPr txBox="1"/>
          <p:nvPr/>
        </p:nvSpPr>
        <p:spPr>
          <a:xfrm>
            <a:off x="448056" y="1581912"/>
            <a:ext cx="310896" cy="310896"/>
          </a:xfrm>
          <a:prstGeom prst="rect">
            <a:avLst/>
          </a:prstGeom>
          <a:noFill/>
        </p:spPr>
        <p:txBody>
          <a:bodyPr wrap="square" anchor="ctr" lIns="0" rIns="0" tIns="0" bIns="0"/>
          <a:lstStyle/>
          <a:p>
            <a:pPr algn="ctr">
              <a:lnSpc>
                <a:spcPct val="110000"/>
              </a:lnSpc>
            </a:pPr>
            <a:r>
              <a:rPr sz="1000" b="1">
                <a:solidFill>
                  <a:srgbClr val="FFFFFF"/>
                </a:solidFill>
                <a:latin typeface="Google Sans Flex"/>
                <a:ea typeface="Google Sans Flex"/>
                <a:cs typeface="Google Sans Flex"/>
                <a:sym typeface="Google Sans Flex"/>
              </a:rPr>
              <a:t>1</a:t>
            </a:r>
          </a:p>
        </p:txBody>
      </p:sp>
      <p:sp>
        <p:nvSpPr>
          <p:cNvPr id="156" name="TextBox 155"/>
          <p:cNvSpPr txBox="1"/>
          <p:nvPr/>
        </p:nvSpPr>
        <p:spPr>
          <a:xfrm>
            <a:off x="886968" y="1517904"/>
            <a:ext cx="3429000" cy="438912"/>
          </a:xfrm>
          <a:prstGeom prst="rect">
            <a:avLst/>
          </a:prstGeom>
          <a:noFill/>
        </p:spPr>
        <p:txBody>
          <a:bodyPr wrap="square" anchor="ctr" lIns="0" rIns="0" tIns="0" bIns="0"/>
          <a:lstStyle/>
          <a:p>
            <a:pPr algn="l">
              <a:lnSpc>
                <a:spcPct val="110000"/>
              </a:lnSpc>
            </a:pPr>
            <a:r>
              <a:rPr sz="1150" b="1">
                <a:solidFill>
                  <a:srgbClr val="1F1A17"/>
                </a:solidFill>
                <a:latin typeface="Google Sans Flex"/>
                <a:ea typeface="Google Sans Flex"/>
                <a:cs typeface="Google Sans Flex"/>
                <a:sym typeface="Google Sans Flex"/>
              </a:rPr>
              <a:t>Native review of every Burmese string</a:t>
            </a:r>
          </a:p>
        </p:txBody>
      </p:sp>
      <p:sp>
        <p:nvSpPr>
          <p:cNvPr id="157" name="Rounded Rectangle 156"/>
          <p:cNvSpPr/>
          <p:nvPr/>
        </p:nvSpPr>
        <p:spPr>
          <a:xfrm>
            <a:off x="338328" y="2103120"/>
            <a:ext cx="4069080" cy="512064"/>
          </a:xfrm>
          <a:prstGeom prst="roundRect">
            <a:avLst>
              <a:gd name="adj" fmla="val 14285"/>
            </a:avLst>
          </a:prstGeom>
          <a:solidFill>
            <a:srgbClr val="F7F3EE"/>
          </a:solidFill>
          <a:ln w="9525">
            <a:solidFill>
              <a:srgbClr val="E6DED3"/>
            </a:solidFill>
          </a:ln>
          <a:effectLst/>
        </p:spPr>
        <p:txBody>
          <a:bodyPr rtlCol="0" anchor="ctr"/>
          <a:lstStyle/>
          <a:p/>
        </p:txBody>
      </p:sp>
      <p:sp>
        <p:nvSpPr>
          <p:cNvPr id="158" name="Oval 157"/>
          <p:cNvSpPr/>
          <p:nvPr/>
        </p:nvSpPr>
        <p:spPr>
          <a:xfrm>
            <a:off x="448056" y="2203703"/>
            <a:ext cx="310896" cy="310896"/>
          </a:xfrm>
          <a:prstGeom prst="ellipse">
            <a:avLst/>
          </a:prstGeom>
          <a:solidFill>
            <a:srgbClr val="1F1A17"/>
          </a:solidFill>
          <a:ln>
            <a:noFill/>
          </a:ln>
          <a:effectLst/>
        </p:spPr>
        <p:txBody>
          <a:bodyPr rtlCol="0" anchor="ctr"/>
          <a:lstStyle/>
          <a:p/>
        </p:txBody>
      </p:sp>
      <p:sp>
        <p:nvSpPr>
          <p:cNvPr id="159" name="TextBox 158"/>
          <p:cNvSpPr txBox="1"/>
          <p:nvPr/>
        </p:nvSpPr>
        <p:spPr>
          <a:xfrm>
            <a:off x="448056" y="2203703"/>
            <a:ext cx="310896" cy="310896"/>
          </a:xfrm>
          <a:prstGeom prst="rect">
            <a:avLst/>
          </a:prstGeom>
          <a:noFill/>
        </p:spPr>
        <p:txBody>
          <a:bodyPr wrap="square" anchor="ctr" lIns="0" rIns="0" tIns="0" bIns="0"/>
          <a:lstStyle/>
          <a:p>
            <a:pPr algn="ctr">
              <a:lnSpc>
                <a:spcPct val="110000"/>
              </a:lnSpc>
            </a:pPr>
            <a:r>
              <a:rPr sz="1000" b="1">
                <a:solidFill>
                  <a:srgbClr val="FFFFFF"/>
                </a:solidFill>
                <a:latin typeface="Google Sans Flex"/>
                <a:ea typeface="Google Sans Flex"/>
                <a:cs typeface="Google Sans Flex"/>
                <a:sym typeface="Google Sans Flex"/>
              </a:rPr>
              <a:t>2</a:t>
            </a:r>
          </a:p>
        </p:txBody>
      </p:sp>
      <p:sp>
        <p:nvSpPr>
          <p:cNvPr id="160" name="TextBox 159"/>
          <p:cNvSpPr txBox="1"/>
          <p:nvPr/>
        </p:nvSpPr>
        <p:spPr>
          <a:xfrm>
            <a:off x="886968" y="2139696"/>
            <a:ext cx="3429000" cy="438912"/>
          </a:xfrm>
          <a:prstGeom prst="rect">
            <a:avLst/>
          </a:prstGeom>
          <a:noFill/>
        </p:spPr>
        <p:txBody>
          <a:bodyPr wrap="square" anchor="ctr" lIns="0" rIns="0" tIns="0" bIns="0"/>
          <a:lstStyle/>
          <a:p>
            <a:pPr algn="l">
              <a:lnSpc>
                <a:spcPct val="110000"/>
              </a:lnSpc>
            </a:pPr>
            <a:r>
              <a:rPr sz="1150" b="1">
                <a:solidFill>
                  <a:srgbClr val="1F1A17"/>
                </a:solidFill>
                <a:latin typeface="Google Sans Flex"/>
                <a:ea typeface="Google Sans Flex"/>
                <a:cs typeface="Google Sans Flex"/>
                <a:sym typeface="Google Sans Flex"/>
              </a:rPr>
              <a:t>Human review of the real-screenshot labels</a:t>
            </a:r>
          </a:p>
        </p:txBody>
      </p:sp>
      <p:sp>
        <p:nvSpPr>
          <p:cNvPr id="161" name="Rounded Rectangle 160"/>
          <p:cNvSpPr/>
          <p:nvPr/>
        </p:nvSpPr>
        <p:spPr>
          <a:xfrm>
            <a:off x="338328" y="2724912"/>
            <a:ext cx="4069080" cy="512064"/>
          </a:xfrm>
          <a:prstGeom prst="roundRect">
            <a:avLst>
              <a:gd name="adj" fmla="val 14285"/>
            </a:avLst>
          </a:prstGeom>
          <a:solidFill>
            <a:srgbClr val="F7F3EE"/>
          </a:solidFill>
          <a:ln w="9525">
            <a:solidFill>
              <a:srgbClr val="E6DED3"/>
            </a:solidFill>
          </a:ln>
          <a:effectLst/>
        </p:spPr>
        <p:txBody>
          <a:bodyPr rtlCol="0" anchor="ctr"/>
          <a:lstStyle/>
          <a:p/>
        </p:txBody>
      </p:sp>
      <p:sp>
        <p:nvSpPr>
          <p:cNvPr id="162" name="Oval 161"/>
          <p:cNvSpPr/>
          <p:nvPr/>
        </p:nvSpPr>
        <p:spPr>
          <a:xfrm>
            <a:off x="448056" y="2825496"/>
            <a:ext cx="310896" cy="310896"/>
          </a:xfrm>
          <a:prstGeom prst="ellipse">
            <a:avLst/>
          </a:prstGeom>
          <a:solidFill>
            <a:srgbClr val="1F1A17"/>
          </a:solidFill>
          <a:ln>
            <a:noFill/>
          </a:ln>
          <a:effectLst/>
        </p:spPr>
        <p:txBody>
          <a:bodyPr rtlCol="0" anchor="ctr"/>
          <a:lstStyle/>
          <a:p/>
        </p:txBody>
      </p:sp>
      <p:sp>
        <p:nvSpPr>
          <p:cNvPr id="163" name="TextBox 162"/>
          <p:cNvSpPr txBox="1"/>
          <p:nvPr/>
        </p:nvSpPr>
        <p:spPr>
          <a:xfrm>
            <a:off x="448056" y="2825496"/>
            <a:ext cx="310896" cy="310896"/>
          </a:xfrm>
          <a:prstGeom prst="rect">
            <a:avLst/>
          </a:prstGeom>
          <a:noFill/>
        </p:spPr>
        <p:txBody>
          <a:bodyPr wrap="square" anchor="ctr" lIns="0" rIns="0" tIns="0" bIns="0"/>
          <a:lstStyle/>
          <a:p>
            <a:pPr algn="ctr">
              <a:lnSpc>
                <a:spcPct val="110000"/>
              </a:lnSpc>
            </a:pPr>
            <a:r>
              <a:rPr sz="1000" b="1">
                <a:solidFill>
                  <a:srgbClr val="FFFFFF"/>
                </a:solidFill>
                <a:latin typeface="Google Sans Flex"/>
                <a:ea typeface="Google Sans Flex"/>
                <a:cs typeface="Google Sans Flex"/>
                <a:sym typeface="Google Sans Flex"/>
              </a:rPr>
              <a:t>3</a:t>
            </a:r>
          </a:p>
        </p:txBody>
      </p:sp>
      <p:sp>
        <p:nvSpPr>
          <p:cNvPr id="164" name="TextBox 163"/>
          <p:cNvSpPr txBox="1"/>
          <p:nvPr/>
        </p:nvSpPr>
        <p:spPr>
          <a:xfrm>
            <a:off x="886968" y="2761488"/>
            <a:ext cx="3429000" cy="438912"/>
          </a:xfrm>
          <a:prstGeom prst="rect">
            <a:avLst/>
          </a:prstGeom>
          <a:noFill/>
        </p:spPr>
        <p:txBody>
          <a:bodyPr wrap="square" anchor="ctr" lIns="0" rIns="0" tIns="0" bIns="0"/>
          <a:lstStyle/>
          <a:p>
            <a:pPr algn="l">
              <a:lnSpc>
                <a:spcPct val="110000"/>
              </a:lnSpc>
            </a:pPr>
            <a:r>
              <a:rPr sz="1150" b="1">
                <a:solidFill>
                  <a:srgbClr val="1F1A17"/>
                </a:solidFill>
                <a:latin typeface="Google Sans Flex"/>
                <a:ea typeface="Google Sans Flex"/>
                <a:cs typeface="Google Sans Flex"/>
                <a:sym typeface="Google Sans Flex"/>
              </a:rPr>
              <a:t>More languages for the region</a:t>
            </a:r>
          </a:p>
        </p:txBody>
      </p:sp>
      <p:sp>
        <p:nvSpPr>
          <p:cNvPr id="165" name="Rounded Rectangle 164"/>
          <p:cNvSpPr/>
          <p:nvPr/>
        </p:nvSpPr>
        <p:spPr>
          <a:xfrm>
            <a:off x="338328" y="3346704"/>
            <a:ext cx="4069080" cy="512064"/>
          </a:xfrm>
          <a:prstGeom prst="roundRect">
            <a:avLst>
              <a:gd name="adj" fmla="val 14285"/>
            </a:avLst>
          </a:prstGeom>
          <a:solidFill>
            <a:srgbClr val="F7F3EE"/>
          </a:solidFill>
          <a:ln w="9525">
            <a:solidFill>
              <a:srgbClr val="E6DED3"/>
            </a:solidFill>
          </a:ln>
          <a:effectLst/>
        </p:spPr>
        <p:txBody>
          <a:bodyPr rtlCol="0" anchor="ctr"/>
          <a:lstStyle/>
          <a:p/>
        </p:txBody>
      </p:sp>
      <p:sp>
        <p:nvSpPr>
          <p:cNvPr id="166" name="Oval 165"/>
          <p:cNvSpPr/>
          <p:nvPr/>
        </p:nvSpPr>
        <p:spPr>
          <a:xfrm>
            <a:off x="448056" y="3447288"/>
            <a:ext cx="310896" cy="310896"/>
          </a:xfrm>
          <a:prstGeom prst="ellipse">
            <a:avLst/>
          </a:prstGeom>
          <a:solidFill>
            <a:srgbClr val="1F1A17"/>
          </a:solidFill>
          <a:ln>
            <a:noFill/>
          </a:ln>
          <a:effectLst/>
        </p:spPr>
        <p:txBody>
          <a:bodyPr rtlCol="0" anchor="ctr"/>
          <a:lstStyle/>
          <a:p/>
        </p:txBody>
      </p:sp>
      <p:sp>
        <p:nvSpPr>
          <p:cNvPr id="167" name="TextBox 166"/>
          <p:cNvSpPr txBox="1"/>
          <p:nvPr/>
        </p:nvSpPr>
        <p:spPr>
          <a:xfrm>
            <a:off x="448056" y="3447288"/>
            <a:ext cx="310896" cy="310896"/>
          </a:xfrm>
          <a:prstGeom prst="rect">
            <a:avLst/>
          </a:prstGeom>
          <a:noFill/>
        </p:spPr>
        <p:txBody>
          <a:bodyPr wrap="square" anchor="ctr" lIns="0" rIns="0" tIns="0" bIns="0"/>
          <a:lstStyle/>
          <a:p>
            <a:pPr algn="ctr">
              <a:lnSpc>
                <a:spcPct val="110000"/>
              </a:lnSpc>
            </a:pPr>
            <a:r>
              <a:rPr sz="1000" b="1">
                <a:solidFill>
                  <a:srgbClr val="FFFFFF"/>
                </a:solidFill>
                <a:latin typeface="Google Sans Flex"/>
                <a:ea typeface="Google Sans Flex"/>
                <a:cs typeface="Google Sans Flex"/>
                <a:sym typeface="Google Sans Flex"/>
              </a:rPr>
              <a:t>4</a:t>
            </a:r>
          </a:p>
        </p:txBody>
      </p:sp>
      <p:sp>
        <p:nvSpPr>
          <p:cNvPr id="168" name="TextBox 167"/>
          <p:cNvSpPr txBox="1"/>
          <p:nvPr/>
        </p:nvSpPr>
        <p:spPr>
          <a:xfrm>
            <a:off x="886968" y="3383280"/>
            <a:ext cx="3429000" cy="438912"/>
          </a:xfrm>
          <a:prstGeom prst="rect">
            <a:avLst/>
          </a:prstGeom>
          <a:noFill/>
        </p:spPr>
        <p:txBody>
          <a:bodyPr wrap="square" anchor="ctr" lIns="0" rIns="0" tIns="0" bIns="0"/>
          <a:lstStyle/>
          <a:p>
            <a:pPr algn="l">
              <a:lnSpc>
                <a:spcPct val="110000"/>
              </a:lnSpc>
            </a:pPr>
            <a:r>
              <a:rPr sz="1150" b="1">
                <a:solidFill>
                  <a:srgbClr val="1F1A17"/>
                </a:solidFill>
                <a:latin typeface="Google Sans Flex"/>
                <a:ea typeface="Google Sans Flex"/>
                <a:cs typeface="Google Sans Flex"/>
                <a:sym typeface="Google Sans Flex"/>
              </a:rPr>
              <a:t>Pilots with migrant worker NGOs</a:t>
            </a:r>
          </a:p>
        </p:txBody>
      </p:sp>
      <p:sp>
        <p:nvSpPr>
          <p:cNvPr id="169" name="TextBox 168"/>
          <p:cNvSpPr txBox="1"/>
          <p:nvPr/>
        </p:nvSpPr>
        <p:spPr>
          <a:xfrm>
            <a:off x="4681728" y="1097280"/>
            <a:ext cx="4023360" cy="274320"/>
          </a:xfrm>
          <a:prstGeom prst="rect">
            <a:avLst/>
          </a:prstGeom>
          <a:noFill/>
        </p:spPr>
        <p:txBody>
          <a:bodyPr wrap="square" anchor="t" lIns="0" rIns="0" tIns="0" bIns="0"/>
          <a:lstStyle/>
          <a:p>
            <a:pPr algn="l">
              <a:lnSpc>
                <a:spcPct val="110000"/>
              </a:lnSpc>
            </a:pPr>
            <a:r>
              <a:rPr sz="1300" b="1">
                <a:solidFill>
                  <a:srgbClr val="1F1A17"/>
                </a:solidFill>
                <a:latin typeface="Google Sans Flex"/>
                <a:ea typeface="Google Sans Flex"/>
                <a:cs typeface="Google Sans Flex"/>
                <a:sym typeface="Google Sans Flex"/>
              </a:rPr>
              <a:t>Known limits today</a:t>
            </a:r>
          </a:p>
        </p:txBody>
      </p:sp>
      <p:sp>
        <p:nvSpPr>
          <p:cNvPr id="170" name="Rounded Rectangle 169"/>
          <p:cNvSpPr/>
          <p:nvPr/>
        </p:nvSpPr>
        <p:spPr>
          <a:xfrm>
            <a:off x="4681728" y="1481328"/>
            <a:ext cx="4114800" cy="2377440"/>
          </a:xfrm>
          <a:prstGeom prst="roundRect">
            <a:avLst>
              <a:gd name="adj" fmla="val 3076"/>
            </a:avLst>
          </a:prstGeom>
          <a:solidFill>
            <a:srgbClr val="F7F3EE"/>
          </a:solidFill>
          <a:ln w="9525">
            <a:solidFill>
              <a:srgbClr val="E6DED3"/>
            </a:solidFill>
          </a:ln>
          <a:effectLst/>
        </p:spPr>
        <p:txBody>
          <a:bodyPr rtlCol="0" anchor="ctr"/>
          <a:lstStyle/>
          <a:p/>
        </p:txBody>
      </p:sp>
      <p:sp>
        <p:nvSpPr>
          <p:cNvPr id="171" name="TextBox 170"/>
          <p:cNvSpPr txBox="1"/>
          <p:nvPr/>
        </p:nvSpPr>
        <p:spPr>
          <a:xfrm>
            <a:off x="4846320" y="1600200"/>
            <a:ext cx="3794760" cy="2194560"/>
          </a:xfrm>
          <a:prstGeom prst="rect">
            <a:avLst/>
          </a:prstGeom>
          <a:noFill/>
        </p:spPr>
        <p:txBody>
          <a:bodyPr wrap="square" anchor="t" lIns="0" rIns="0" tIns="0" bIns="0"/>
          <a:lstStyle/>
          <a:p>
            <a:pPr algn="l">
              <a:lnSpc>
                <a:spcPct val="115000"/>
              </a:lnSpc>
            </a:pPr>
            <a:r>
              <a:rPr sz="1150" b="0">
                <a:solidFill>
                  <a:srgbClr val="57504A"/>
                </a:solidFill>
                <a:latin typeface="Google Sans Flex"/>
                <a:ea typeface="Google Sans Flex"/>
                <a:cs typeface="Google Sans Flex"/>
                <a:sym typeface="Google Sans Flex"/>
              </a:rPr>
              <a:t>•  Burmese app strings are machine translated and not yet reviewed by a native speaker.</a:t>
            </a:r>
          </a:p>
          <a:p>
            <a:pPr algn="l">
              <a:lnSpc>
                <a:spcPct val="115000"/>
              </a:lnSpc>
              <a:spcBef>
                <a:spcPts val="1000"/>
              </a:spcBef>
            </a:pPr>
            <a:r>
              <a:rPr sz="1150" b="0">
                <a:solidFill>
                  <a:srgbClr val="57504A"/>
                </a:solidFill>
                <a:latin typeface="Google Sans Flex"/>
                <a:ea typeface="Google Sans Flex"/>
                <a:cs typeface="Google Sans Flex"/>
                <a:sym typeface="Google Sans Flex"/>
              </a:rPr>
              <a:t>•  Real-screenshot labels are drafts from two models, so that score is provisional.</a:t>
            </a:r>
          </a:p>
          <a:p>
            <a:pPr algn="l">
              <a:lnSpc>
                <a:spcPct val="115000"/>
              </a:lnSpc>
              <a:spcBef>
                <a:spcPts val="1000"/>
              </a:spcBef>
            </a:pPr>
            <a:r>
              <a:rPr sz="1150" b="0">
                <a:solidFill>
                  <a:srgbClr val="57504A"/>
                </a:solidFill>
                <a:latin typeface="Google Sans Flex"/>
                <a:ea typeface="Google Sans Flex"/>
                <a:cs typeface="Google Sans Flex"/>
                <a:sym typeface="Google Sans Flex"/>
              </a:rPr>
              <a:t>•  The web demo has no screen bubble; it needs the Android app.</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r>
              <a:rPr lang="en-GB">
                <a:latin typeface="Google Sans Flex Medium"/>
                <a:ea typeface="Google Sans Flex Medium"/>
                <a:cs typeface="Google Sans Flex Medium"/>
                <a:sym typeface="Google Sans Flex Medium"/>
              </a:rPr>
              <a:t>: </a:t>
            </a:r>
            <a:r>
              <a:rPr lang="en-GB">
                <a:latin typeface="Google Sans Flex Medium"/>
                <a:ea typeface="Google Sans Flex Medium"/>
                <a:cs typeface="Google Sans Flex Medium"/>
                <a:sym typeface="Google Sans Flex Medium"/>
                <a:hlinkClick r:id="rId5"/>
              </a:rPr>
              <a:t>https://github.com/minthein128/scamshield</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r>
              <a:rPr lang="en-GB">
                <a:latin typeface="Google Sans Flex Medium"/>
                <a:ea typeface="Google Sans Flex Medium"/>
                <a:cs typeface="Google Sans Flex Medium"/>
                <a:sym typeface="Google Sans Flex Medium"/>
              </a:rPr>
              <a:t>: web demo </a:t>
            </a:r>
            <a:r>
              <a:rPr lang="en-GB">
                <a:latin typeface="Google Sans Flex Medium"/>
                <a:ea typeface="Google Sans Flex Medium"/>
                <a:cs typeface="Google Sans Flex Medium"/>
                <a:sym typeface="Google Sans Flex Medium"/>
                <a:hlinkClick r:id="rId6"/>
              </a:rPr>
              <a:t>https://saferoute-aibc.web.app</a:t>
            </a:r>
            <a:r>
              <a:rPr lang="en-GB">
                <a:latin typeface="Google Sans Flex Medium"/>
                <a:ea typeface="Google Sans Flex Medium"/>
                <a:cs typeface="Google Sans Flex Medium"/>
                <a:sym typeface="Google Sans Flex Medium"/>
              </a:rPr>
              <a:t>, Android APK </a:t>
            </a:r>
            <a:r>
              <a:rPr lang="en-GB">
                <a:latin typeface="Google Sans Flex Medium"/>
                <a:ea typeface="Google Sans Flex Medium"/>
                <a:cs typeface="Google Sans Flex Medium"/>
                <a:sym typeface="Google Sans Flex Medium"/>
                <a:hlinkClick r:id="rId7"/>
              </a:rPr>
              <a:t>https://saferoute-aibc.web.app/saferoute.apk</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38328" y="2331720"/>
            <a:ext cx="8467344" cy="1325880"/>
          </a:xfrm>
          <a:prstGeom prst="roundRect">
            <a:avLst>
              <a:gd name="adj" fmla="val 5517"/>
            </a:avLst>
          </a:prstGeom>
          <a:solidFill>
            <a:srgbClr val="F7F3EE"/>
          </a:solidFill>
          <a:ln w="9525">
            <a:solidFill>
              <a:srgbClr val="E6DED3"/>
            </a:solidFill>
          </a:ln>
          <a:effectLst/>
        </p:spPr>
        <p:txBody>
          <a:bodyPr rtlCol="0" anchor="ctr"/>
          <a:lstStyle/>
          <a:p/>
        </p:txBody>
      </p:sp>
      <p:sp>
        <p:nvSpPr>
          <p:cNvPr id="161" name="TextBox 160"/>
          <p:cNvSpPr txBox="1"/>
          <p:nvPr/>
        </p:nvSpPr>
        <p:spPr>
          <a:xfrm>
            <a:off x="521208" y="2459736"/>
            <a:ext cx="8138160" cy="1188720"/>
          </a:xfrm>
          <a:prstGeom prst="rect">
            <a:avLst/>
          </a:prstGeom>
          <a:noFill/>
        </p:spPr>
        <p:txBody>
          <a:bodyPr wrap="square" anchor="t" lIns="0" rIns="0" tIns="0" bIns="0"/>
          <a:lstStyle/>
          <a:p>
            <a:pPr algn="l">
              <a:lnSpc>
                <a:spcPct val="110000"/>
              </a:lnSpc>
            </a:pPr>
            <a:r>
              <a:rPr sz="1200" b="1">
                <a:solidFill>
                  <a:srgbClr val="1F1A17"/>
                </a:solidFill>
                <a:latin typeface="Google Sans Flex"/>
                <a:ea typeface="Google Sans Flex"/>
                <a:cs typeface="Google Sans Flex"/>
                <a:sym typeface="Google Sans Flex"/>
              </a:rPr>
              <a:t>Public dataset: </a:t>
            </a:r>
            <a:r>
              <a:rPr sz="1200" b="0">
                <a:solidFill>
                  <a:srgbClr val="57504A"/>
                </a:solidFill>
                <a:latin typeface="Google Sans Flex"/>
                <a:ea typeface="Google Sans Flex"/>
                <a:cs typeface="Google Sans Flex"/>
                <a:sym typeface="Google Sans Flex"/>
                <a:hlinkClick r:id="rId8"/>
              </a:rPr>
              <a:t>https://huggingface.co/datasets/Rickaym/saferoute-scam-screenshots</a:t>
            </a:r>
          </a:p>
          <a:p>
            <a:pPr algn="l">
              <a:lnSpc>
                <a:spcPct val="110000"/>
              </a:lnSpc>
              <a:spcBef>
                <a:spcPts val="800"/>
              </a:spcBef>
            </a:pPr>
            <a:r>
              <a:rPr sz="1200" b="1">
                <a:solidFill>
                  <a:srgbClr val="1F1A17"/>
                </a:solidFill>
                <a:latin typeface="Google Sans Flex"/>
                <a:ea typeface="Google Sans Flex"/>
                <a:cs typeface="Google Sans Flex"/>
                <a:sym typeface="Google Sans Flex"/>
              </a:rPr>
              <a:t>Team: </a:t>
            </a:r>
            <a:r>
              <a:rPr sz="1200" b="0">
                <a:solidFill>
                  <a:srgbClr val="57504A"/>
                </a:solidFill>
                <a:latin typeface="Google Sans Flex"/>
                <a:ea typeface="Google Sans Flex"/>
                <a:cs typeface="Google Sans Flex"/>
                <a:sym typeface="Google Sans Flex"/>
              </a:rPr>
              <a:t>Super Power Rangers. Pyae Sone Myo (Ricky), team leader; Min Thein Kyaw; May Myat Noe Aung</a:t>
            </a:r>
          </a:p>
          <a:p>
            <a:pPr algn="l">
              <a:lnSpc>
                <a:spcPct val="110000"/>
              </a:lnSpc>
              <a:spcBef>
                <a:spcPts val="800"/>
              </a:spcBef>
            </a:pPr>
            <a:r>
              <a:rPr sz="1200" b="1">
                <a:solidFill>
                  <a:srgbClr val="1F1A17"/>
                </a:solidFill>
                <a:latin typeface="Google Sans Flex"/>
                <a:ea typeface="Google Sans Flex"/>
                <a:cs typeface="Google Sans Flex"/>
                <a:sym typeface="Google Sans Flex"/>
              </a:rPr>
              <a:t>Contact: </a:t>
            </a:r>
            <a:r>
              <a:rPr sz="1200" b="0">
                <a:solidFill>
                  <a:srgbClr val="57504A"/>
                </a:solidFill>
                <a:latin typeface="Google Sans Flex"/>
                <a:ea typeface="Google Sans Flex"/>
                <a:cs typeface="Google Sans Flex"/>
                <a:sym typeface="Google Sans Flex"/>
                <a:hlinkClick r:id="rId9"/>
              </a:rPr>
              <a:t>support@akkhayar.com</a:t>
            </a:r>
          </a:p>
        </p:txBody>
      </p:sp>
      <p:pic>
        <p:nvPicPr>
          <p:cNvPr id="162" name="Picture 161" descr="medallion.png"/>
          <p:cNvPicPr>
            <a:picLocks noChangeAspect="1"/>
          </p:cNvPicPr>
          <p:nvPr/>
        </p:nvPicPr>
        <p:blipFill>
          <a:blip r:embed="rId10"/>
          <a:stretch>
            <a:fillRect/>
          </a:stretch>
        </p:blipFill>
        <p:spPr>
          <a:xfrm>
            <a:off x="7680960" y="2560320"/>
            <a:ext cx="868680" cy="8686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Safety and privacy</a:t>
            </a:r>
            <a:endParaRPr sz="1600">
              <a:latin typeface="Google Sans Flex Medium"/>
              <a:ea typeface="Google Sans Flex Medium"/>
              <a:cs typeface="Google Sans Flex Medium"/>
              <a:sym typeface="Google Sans Flex Medium"/>
            </a:endParaRPr>
          </a:p>
        </p:txBody>
      </p:sp>
      <p:sp>
        <p:nvSpPr>
          <p:cNvPr id="167" name="Rounded Rectangle 166"/>
          <p:cNvSpPr/>
          <p:nvPr/>
        </p:nvSpPr>
        <p:spPr>
          <a:xfrm>
            <a:off x="338328" y="1115568"/>
            <a:ext cx="2880360" cy="1097280"/>
          </a:xfrm>
          <a:prstGeom prst="roundRect">
            <a:avLst>
              <a:gd name="adj" fmla="val 6666"/>
            </a:avLst>
          </a:prstGeom>
          <a:solidFill>
            <a:srgbClr val="F7F3EE"/>
          </a:solidFill>
          <a:ln w="9525">
            <a:solidFill>
              <a:srgbClr val="E6DED3"/>
            </a:solidFill>
          </a:ln>
          <a:effectLst/>
        </p:spPr>
        <p:txBody>
          <a:bodyPr rtlCol="0" anchor="ctr"/>
          <a:lstStyle/>
          <a:p/>
        </p:txBody>
      </p:sp>
      <p:sp>
        <p:nvSpPr>
          <p:cNvPr id="168" name="TextBox 167"/>
          <p:cNvSpPr txBox="1"/>
          <p:nvPr/>
        </p:nvSpPr>
        <p:spPr>
          <a:xfrm>
            <a:off x="466344" y="1225295"/>
            <a:ext cx="2624328" cy="914400"/>
          </a:xfrm>
          <a:prstGeom prst="rect">
            <a:avLst/>
          </a:prstGeom>
          <a:noFill/>
        </p:spPr>
        <p:txBody>
          <a:bodyPr wrap="square" anchor="t" lIns="0" rIns="0" tIns="0" bIns="0"/>
          <a:lstStyle/>
          <a:p>
            <a:pPr algn="l">
              <a:lnSpc>
                <a:spcPct val="110000"/>
              </a:lnSpc>
            </a:pPr>
            <a:r>
              <a:rPr sz="1200" b="1">
                <a:solidFill>
                  <a:srgbClr val="1F1A17"/>
                </a:solidFill>
                <a:latin typeface="Google Sans Flex"/>
                <a:ea typeface="Google Sans Flex"/>
                <a:cs typeface="Google Sans Flex"/>
                <a:sym typeface="Google Sans Flex"/>
              </a:rPr>
              <a:t>Likelihood words</a:t>
            </a:r>
          </a:p>
          <a:p>
            <a:pPr algn="l">
              <a:lnSpc>
                <a:spcPct val="110000"/>
              </a:lnSpc>
              <a:spcBef>
                <a:spcPts val="400"/>
              </a:spcBef>
            </a:pPr>
            <a:r>
              <a:rPr sz="1000" b="0">
                <a:solidFill>
                  <a:srgbClr val="57504A"/>
                </a:solidFill>
                <a:latin typeface="Google Sans Flex"/>
                <a:ea typeface="Google Sans Flex"/>
                <a:cs typeface="Google Sans Flex"/>
                <a:sym typeface="Google Sans Flex"/>
              </a:rPr>
              <a:t>"Shows signs of", never "is a scam". A guard rewrites certainty phrases in all five languages.</a:t>
            </a:r>
          </a:p>
        </p:txBody>
      </p:sp>
      <p:sp>
        <p:nvSpPr>
          <p:cNvPr id="169" name="Rounded Rectangle 168"/>
          <p:cNvSpPr/>
          <p:nvPr/>
        </p:nvSpPr>
        <p:spPr>
          <a:xfrm>
            <a:off x="3355848" y="1115568"/>
            <a:ext cx="2880360" cy="1097280"/>
          </a:xfrm>
          <a:prstGeom prst="roundRect">
            <a:avLst>
              <a:gd name="adj" fmla="val 6666"/>
            </a:avLst>
          </a:prstGeom>
          <a:solidFill>
            <a:srgbClr val="F7F3EE"/>
          </a:solidFill>
          <a:ln w="9525">
            <a:solidFill>
              <a:srgbClr val="E6DED3"/>
            </a:solidFill>
          </a:ln>
          <a:effectLst/>
        </p:spPr>
        <p:txBody>
          <a:bodyPr rtlCol="0" anchor="ctr"/>
          <a:lstStyle/>
          <a:p/>
        </p:txBody>
      </p:sp>
      <p:sp>
        <p:nvSpPr>
          <p:cNvPr id="170" name="TextBox 169"/>
          <p:cNvSpPr txBox="1"/>
          <p:nvPr/>
        </p:nvSpPr>
        <p:spPr>
          <a:xfrm>
            <a:off x="3483864" y="1225295"/>
            <a:ext cx="2624328" cy="914400"/>
          </a:xfrm>
          <a:prstGeom prst="rect">
            <a:avLst/>
          </a:prstGeom>
          <a:noFill/>
        </p:spPr>
        <p:txBody>
          <a:bodyPr wrap="square" anchor="t" lIns="0" rIns="0" tIns="0" bIns="0"/>
          <a:lstStyle/>
          <a:p>
            <a:pPr algn="l">
              <a:lnSpc>
                <a:spcPct val="110000"/>
              </a:lnSpc>
            </a:pPr>
            <a:r>
              <a:rPr sz="1200" b="1">
                <a:solidFill>
                  <a:srgbClr val="1F1A17"/>
                </a:solidFill>
                <a:latin typeface="Google Sans Flex"/>
                <a:ea typeface="Google Sans Flex"/>
                <a:cs typeface="Google Sans Flex"/>
                <a:sym typeface="Google Sans Flex"/>
              </a:rPr>
              <a:t>No accusations</a:t>
            </a:r>
          </a:p>
          <a:p>
            <a:pPr algn="l">
              <a:lnSpc>
                <a:spcPct val="110000"/>
              </a:lnSpc>
              <a:spcBef>
                <a:spcPts val="400"/>
              </a:spcBef>
            </a:pPr>
            <a:r>
              <a:rPr sz="1000" b="0">
                <a:solidFill>
                  <a:srgbClr val="57504A"/>
                </a:solidFill>
                <a:latin typeface="Google Sans Flex"/>
                <a:ea typeface="Google Sans Flex"/>
                <a:cs typeface="Google Sans Flex"/>
                <a:sym typeface="Google Sans Flex"/>
              </a:rPr>
              <a:t>No named person, company, number or handle is called a criminal.</a:t>
            </a:r>
          </a:p>
        </p:txBody>
      </p:sp>
      <p:sp>
        <p:nvSpPr>
          <p:cNvPr id="171" name="Rounded Rectangle 170"/>
          <p:cNvSpPr/>
          <p:nvPr/>
        </p:nvSpPr>
        <p:spPr>
          <a:xfrm>
            <a:off x="338328" y="2331720"/>
            <a:ext cx="2880360" cy="1097280"/>
          </a:xfrm>
          <a:prstGeom prst="roundRect">
            <a:avLst>
              <a:gd name="adj" fmla="val 6666"/>
            </a:avLst>
          </a:prstGeom>
          <a:solidFill>
            <a:srgbClr val="F7F3EE"/>
          </a:solidFill>
          <a:ln w="9525">
            <a:solidFill>
              <a:srgbClr val="E6DED3"/>
            </a:solidFill>
          </a:ln>
          <a:effectLst/>
        </p:spPr>
        <p:txBody>
          <a:bodyPr rtlCol="0" anchor="ctr"/>
          <a:lstStyle/>
          <a:p/>
        </p:txBody>
      </p:sp>
      <p:sp>
        <p:nvSpPr>
          <p:cNvPr id="172" name="TextBox 171"/>
          <p:cNvSpPr txBox="1"/>
          <p:nvPr/>
        </p:nvSpPr>
        <p:spPr>
          <a:xfrm>
            <a:off x="466344" y="2441448"/>
            <a:ext cx="2624328" cy="914400"/>
          </a:xfrm>
          <a:prstGeom prst="rect">
            <a:avLst/>
          </a:prstGeom>
          <a:noFill/>
        </p:spPr>
        <p:txBody>
          <a:bodyPr wrap="square" anchor="t" lIns="0" rIns="0" tIns="0" bIns="0"/>
          <a:lstStyle/>
          <a:p>
            <a:pPr algn="l">
              <a:lnSpc>
                <a:spcPct val="110000"/>
              </a:lnSpc>
            </a:pPr>
            <a:r>
              <a:rPr sz="1200" b="1">
                <a:solidFill>
                  <a:srgbClr val="1F1A17"/>
                </a:solidFill>
                <a:latin typeface="Google Sans Flex"/>
                <a:ea typeface="Google Sans Flex"/>
                <a:cs typeface="Google Sans Flex"/>
                <a:sym typeface="Google Sans Flex"/>
              </a:rPr>
              <a:t>Consent first</a:t>
            </a:r>
          </a:p>
          <a:p>
            <a:pPr algn="l">
              <a:lnSpc>
                <a:spcPct val="110000"/>
              </a:lnSpc>
              <a:spcBef>
                <a:spcPts val="400"/>
              </a:spcBef>
            </a:pPr>
            <a:r>
              <a:rPr sz="1000" b="0">
                <a:solidFill>
                  <a:srgbClr val="57504A"/>
                </a:solidFill>
                <a:latin typeface="Google Sans Flex"/>
                <a:ea typeface="Google Sans Flex"/>
                <a:cs typeface="Google Sans Flex"/>
                <a:sym typeface="Google Sans Flex"/>
              </a:rPr>
              <a:t>Sharing is off until turned on. Overlay, screen capture, microphone, notifications and contacts are asked only when needed.</a:t>
            </a:r>
          </a:p>
        </p:txBody>
      </p:sp>
      <p:sp>
        <p:nvSpPr>
          <p:cNvPr id="173" name="Rounded Rectangle 172"/>
          <p:cNvSpPr/>
          <p:nvPr/>
        </p:nvSpPr>
        <p:spPr>
          <a:xfrm>
            <a:off x="3355848" y="2331720"/>
            <a:ext cx="2880360" cy="1097280"/>
          </a:xfrm>
          <a:prstGeom prst="roundRect">
            <a:avLst>
              <a:gd name="adj" fmla="val 6666"/>
            </a:avLst>
          </a:prstGeom>
          <a:solidFill>
            <a:srgbClr val="F7F3EE"/>
          </a:solidFill>
          <a:ln w="9525">
            <a:solidFill>
              <a:srgbClr val="E6DED3"/>
            </a:solidFill>
          </a:ln>
          <a:effectLst/>
        </p:spPr>
        <p:txBody>
          <a:bodyPr rtlCol="0" anchor="ctr"/>
          <a:lstStyle/>
          <a:p/>
        </p:txBody>
      </p:sp>
      <p:sp>
        <p:nvSpPr>
          <p:cNvPr id="174" name="TextBox 173"/>
          <p:cNvSpPr txBox="1"/>
          <p:nvPr/>
        </p:nvSpPr>
        <p:spPr>
          <a:xfrm>
            <a:off x="3483864" y="2441448"/>
            <a:ext cx="2624328" cy="914400"/>
          </a:xfrm>
          <a:prstGeom prst="rect">
            <a:avLst/>
          </a:prstGeom>
          <a:noFill/>
        </p:spPr>
        <p:txBody>
          <a:bodyPr wrap="square" anchor="t" lIns="0" rIns="0" tIns="0" bIns="0"/>
          <a:lstStyle/>
          <a:p>
            <a:pPr algn="l">
              <a:lnSpc>
                <a:spcPct val="110000"/>
              </a:lnSpc>
            </a:pPr>
            <a:r>
              <a:rPr sz="1200" b="1">
                <a:solidFill>
                  <a:srgbClr val="1F1A17"/>
                </a:solidFill>
                <a:latin typeface="Google Sans Flex"/>
                <a:ea typeface="Google Sans Flex"/>
                <a:cs typeface="Google Sans Flex"/>
                <a:sym typeface="Google Sans Flex"/>
              </a:rPr>
              <a:t>Hashed indicators</a:t>
            </a:r>
          </a:p>
          <a:p>
            <a:pPr algn="l">
              <a:lnSpc>
                <a:spcPct val="110000"/>
              </a:lnSpc>
              <a:spcBef>
                <a:spcPts val="400"/>
              </a:spcBef>
            </a:pPr>
            <a:r>
              <a:rPr sz="1000" b="0">
                <a:solidFill>
                  <a:srgbClr val="57504A"/>
                </a:solidFill>
                <a:latin typeface="Google Sans Flex"/>
                <a:ea typeface="Google Sans Flex"/>
                <a:cs typeface="Google Sans Flex"/>
                <a:sym typeface="Google Sans Flex"/>
              </a:rPr>
              <a:t>Phone numbers and handles are kept as one-way hashes; signals expire after 90 days.</a:t>
            </a:r>
          </a:p>
        </p:txBody>
      </p:sp>
      <p:sp>
        <p:nvSpPr>
          <p:cNvPr id="175" name="Rounded Rectangle 174"/>
          <p:cNvSpPr/>
          <p:nvPr/>
        </p:nvSpPr>
        <p:spPr>
          <a:xfrm>
            <a:off x="338328" y="3547872"/>
            <a:ext cx="2880360" cy="1097280"/>
          </a:xfrm>
          <a:prstGeom prst="roundRect">
            <a:avLst>
              <a:gd name="adj" fmla="val 6666"/>
            </a:avLst>
          </a:prstGeom>
          <a:solidFill>
            <a:srgbClr val="F7F3EE"/>
          </a:solidFill>
          <a:ln w="9525">
            <a:solidFill>
              <a:srgbClr val="E6DED3"/>
            </a:solidFill>
          </a:ln>
          <a:effectLst/>
        </p:spPr>
        <p:txBody>
          <a:bodyPr rtlCol="0" anchor="ctr"/>
          <a:lstStyle/>
          <a:p/>
        </p:txBody>
      </p:sp>
      <p:sp>
        <p:nvSpPr>
          <p:cNvPr id="176" name="TextBox 175"/>
          <p:cNvSpPr txBox="1"/>
          <p:nvPr/>
        </p:nvSpPr>
        <p:spPr>
          <a:xfrm>
            <a:off x="466344" y="3657600"/>
            <a:ext cx="2624328" cy="914400"/>
          </a:xfrm>
          <a:prstGeom prst="rect">
            <a:avLst/>
          </a:prstGeom>
          <a:noFill/>
        </p:spPr>
        <p:txBody>
          <a:bodyPr wrap="square" anchor="t" lIns="0" rIns="0" tIns="0" bIns="0"/>
          <a:lstStyle/>
          <a:p>
            <a:pPr algn="l">
              <a:lnSpc>
                <a:spcPct val="110000"/>
              </a:lnSpc>
            </a:pPr>
            <a:r>
              <a:rPr sz="1200" b="1">
                <a:solidFill>
                  <a:srgbClr val="1F1A17"/>
                </a:solidFill>
                <a:latin typeface="Google Sans Flex"/>
                <a:ea typeface="Google Sans Flex"/>
                <a:cs typeface="Google Sans Flex"/>
                <a:sym typeface="Google Sans Flex"/>
              </a:rPr>
              <a:t>Quick exit</a:t>
            </a:r>
          </a:p>
          <a:p>
            <a:pPr algn="l">
              <a:lnSpc>
                <a:spcPct val="110000"/>
              </a:lnSpc>
              <a:spcBef>
                <a:spcPts val="400"/>
              </a:spcBef>
            </a:pPr>
            <a:r>
              <a:rPr sz="1000" b="0">
                <a:solidFill>
                  <a:srgbClr val="57504A"/>
                </a:solidFill>
                <a:latin typeface="Google Sans Flex"/>
                <a:ea typeface="Google Sans Flex"/>
                <a:cs typeface="Google Sans Flex"/>
                <a:sym typeface="Google Sans Flex"/>
              </a:rPr>
              <a:t>One button on every report clears the screen back to Home and stops audio.</a:t>
            </a:r>
          </a:p>
        </p:txBody>
      </p:sp>
      <p:sp>
        <p:nvSpPr>
          <p:cNvPr id="177" name="Rounded Rectangle 176"/>
          <p:cNvSpPr/>
          <p:nvPr/>
        </p:nvSpPr>
        <p:spPr>
          <a:xfrm>
            <a:off x="3355848" y="3547872"/>
            <a:ext cx="2880360" cy="1097280"/>
          </a:xfrm>
          <a:prstGeom prst="roundRect">
            <a:avLst>
              <a:gd name="adj" fmla="val 6666"/>
            </a:avLst>
          </a:prstGeom>
          <a:solidFill>
            <a:srgbClr val="F7F3EE"/>
          </a:solidFill>
          <a:ln w="9525">
            <a:solidFill>
              <a:srgbClr val="E6DED3"/>
            </a:solidFill>
          </a:ln>
          <a:effectLst/>
        </p:spPr>
        <p:txBody>
          <a:bodyPr rtlCol="0" anchor="ctr"/>
          <a:lstStyle/>
          <a:p/>
        </p:txBody>
      </p:sp>
      <p:sp>
        <p:nvSpPr>
          <p:cNvPr id="178" name="TextBox 177"/>
          <p:cNvSpPr txBox="1"/>
          <p:nvPr/>
        </p:nvSpPr>
        <p:spPr>
          <a:xfrm>
            <a:off x="3483864" y="3657600"/>
            <a:ext cx="2624328" cy="914400"/>
          </a:xfrm>
          <a:prstGeom prst="rect">
            <a:avLst/>
          </a:prstGeom>
          <a:noFill/>
        </p:spPr>
        <p:txBody>
          <a:bodyPr wrap="square" anchor="t" lIns="0" rIns="0" tIns="0" bIns="0"/>
          <a:lstStyle/>
          <a:p>
            <a:pPr algn="l">
              <a:lnSpc>
                <a:spcPct val="110000"/>
              </a:lnSpc>
            </a:pPr>
            <a:r>
              <a:rPr sz="1200" b="1">
                <a:solidFill>
                  <a:srgbClr val="1F1A17"/>
                </a:solidFill>
                <a:latin typeface="Google Sans Flex"/>
                <a:ea typeface="Google Sans Flex"/>
                <a:cs typeface="Google Sans Flex"/>
                <a:sym typeface="Google Sans Flex"/>
              </a:rPr>
              <a:t>Slim sync, 18+</a:t>
            </a:r>
          </a:p>
          <a:p>
            <a:pPr algn="l">
              <a:lnSpc>
                <a:spcPct val="110000"/>
              </a:lnSpc>
              <a:spcBef>
                <a:spcPts val="400"/>
              </a:spcBef>
            </a:pPr>
            <a:r>
              <a:rPr sz="1000" b="0">
                <a:solidFill>
                  <a:srgbClr val="57504A"/>
                </a:solidFill>
                <a:latin typeface="Google Sans Flex"/>
                <a:ea typeface="Google Sans Flex"/>
                <a:cs typeface="Google Sans Flex"/>
                <a:sym typeface="Google Sans Flex"/>
              </a:rPr>
              <a:t>History keeps the verdict, a score band, the title and the summary, and can be turned off.</a:t>
            </a:r>
          </a:p>
        </p:txBody>
      </p:sp>
      <p:sp>
        <p:nvSpPr>
          <p:cNvPr id="179" name="TextBox 178"/>
          <p:cNvSpPr txBox="1"/>
          <p:nvPr/>
        </p:nvSpPr>
        <p:spPr>
          <a:xfrm>
            <a:off x="338328" y="4764024"/>
            <a:ext cx="5897880" cy="274320"/>
          </a:xfrm>
          <a:prstGeom prst="rect">
            <a:avLst/>
          </a:prstGeom>
          <a:noFill/>
        </p:spPr>
        <p:txBody>
          <a:bodyPr wrap="square" anchor="t" lIns="0" rIns="0" tIns="0" bIns="0"/>
          <a:lstStyle/>
          <a:p>
            <a:pPr algn="l">
              <a:lnSpc>
                <a:spcPct val="110000"/>
              </a:lnSpc>
            </a:pPr>
            <a:r>
              <a:rPr sz="1000" b="0">
                <a:solidFill>
                  <a:srgbClr val="57504A"/>
                </a:solidFill>
                <a:latin typeface="Google Sans Flex"/>
                <a:ea typeface="Google Sans Flex"/>
                <a:cs typeface="Google Sans Flex"/>
                <a:sym typeface="Google Sans Flex"/>
              </a:rPr>
              <a:t>Images and message text are not stored or logged. Personal details are redacted before a signal is kept.</a:t>
            </a:r>
          </a:p>
        </p:txBody>
      </p:sp>
      <p:pic>
        <p:nvPicPr>
          <p:cNvPr id="180" name="Picture 179" descr="ph-settings.png"/>
          <p:cNvPicPr>
            <a:picLocks noChangeAspect="1"/>
          </p:cNvPicPr>
          <p:nvPr/>
        </p:nvPicPr>
        <p:blipFill>
          <a:blip r:embed="rId5"/>
          <a:stretch>
            <a:fillRect/>
          </a:stretch>
        </p:blipFill>
        <p:spPr>
          <a:xfrm>
            <a:off x="6537960" y="1078992"/>
            <a:ext cx="1945337" cy="36393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